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4" r:id="rId7"/>
    <p:sldId id="261" r:id="rId8"/>
    <p:sldId id="262" r:id="rId9"/>
    <p:sldId id="263" r:id="rId10"/>
    <p:sldId id="264" r:id="rId11"/>
    <p:sldId id="265" r:id="rId12"/>
    <p:sldId id="266" r:id="rId13"/>
    <p:sldId id="275" r:id="rId14"/>
    <p:sldId id="268" r:id="rId15"/>
    <p:sldId id="269" r:id="rId16"/>
    <p:sldId id="270" r:id="rId17"/>
    <p:sldId id="276" r:id="rId18"/>
    <p:sldId id="272" r:id="rId19"/>
    <p:sldId id="273"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E5CC"/>
    <a:srgbClr val="AA9CFC"/>
    <a:srgbClr val="7AECEC"/>
    <a:srgbClr val="BFE1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6440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walk you through an end-to-end NLP pipeline I built to automatically extract, analyse, and classify knowledge from COVID-19 research papers. This system combines classical NLP tools with deep learning to tackle the tsunami of biomedical literature generated during the pandemic.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roadmap of what we will cover. Five clear phases: after establishing the problem and dataset, we walk through NLTK cleaning, spaCy entity recognition, Gensim Word2Vec embeddings, and finally the Bi-LSTM classifier and evaluation. We wrap with deployment plans and conclusions.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During the pandemic, publications grew exponentially. PubMed saw over half a million COVID-related papers. No human team can keep pace. We need automated systems to extract signals, classify topics, and surface relevant findings — that's exactly what this system does.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five-phase architecture. Each phase hands off to the next: raw text goes through linguistic cleaning, then entity recognition, then semantic embeddings, and finally classification. I'll walk through each phase in detail on the following slides.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CORD-19 corpus filtered to COVID-19 papers. It contains approximately 130,000 abstracts across five topic classes: treatment, transmission, diagnostics, epidemiology, and general virology. Each row has a paper ID, title, abstract text, and a pre-assigned category label.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6ED15-ADA4-035D-0DB1-65E6E1C64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D057C-3B57-974B-1DBF-C059673263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CEFE00-8ADA-7A78-8E29-730314946014}"/>
              </a:ext>
            </a:extLst>
          </p:cNvPr>
          <p:cNvSpPr>
            <a:spLocks noGrp="1"/>
          </p:cNvSpPr>
          <p:nvPr>
            <p:ph type="body" idx="1"/>
          </p:nvPr>
        </p:nvSpPr>
        <p:spPr/>
        <p:txBody>
          <a:bodyPr/>
          <a:lstStyle/>
          <a:p>
            <a:r>
              <a:rPr lang="en-US" dirty="0"/>
              <a:t>The dataset is the CORD-19 corpus filtered to COVID-19 papers. It contains approximately 130,000 abstracts across five topic classes: treatment, transmission, diagnostics, epidemiology, and general virology. Each row has a paper ID, title, abstract text, and a pre-assigned category label.</a:t>
            </a:r>
          </a:p>
        </p:txBody>
      </p:sp>
      <p:sp>
        <p:nvSpPr>
          <p:cNvPr id="4" name="Slide Number Placeholder 3">
            <a:extLst>
              <a:ext uri="{FF2B5EF4-FFF2-40B4-BE49-F238E27FC236}">
                <a16:creationId xmlns:a16="http://schemas.microsoft.com/office/drawing/2014/main" id="{CBDD3758-C5CB-9E38-B4C5-B04D98A66E4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48625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modelling, I ran exploratory analysis. The word count histogram shows a healthy right-skewed distribution — most abstracts sit between 150 and 400 words. Outliers below 30 words are noise records we dropped. Interestingly, treatment papers are consistently longer than epidemiology papers, suggesting more complex methodology descriptions.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raw term frequency, unsurprisingly COVID-specific biomedical terms dominate. But notice how 'the', 'and', and 'of' also appear before cleaning — these are the stop-words that NLTK removes in Phase 1. The shift in frequency after cleaning dramatically changes what the model learns.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side-by-side WordCloud comparison is a powerful before-and-after story. On the left, generic English words dominate. On the right, after NLTK stop-word removal and lemmatisation, the cloud reveals the actual scientific vocabulary — words like 'spike protein', 'ACE2', 'cytokine', 'mRNA' emerge as the true themes of the corpus.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all about noise removal. The cleaning pipeline lowercases everything, tokenises using NLTK's word_tokenize, strips punctuation and numbers, removes the 150 most common English stop-words, and lemmatises remaining tokens. This reduces our vocabulary from approximately 85,000 unique tokens to around 51,000.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uses spaCy's en_core_sci_md biomedical model — a specialised model trained on biomedical texts — to run Named Entity Recognition. This extracts structured knowledge: which diseases are mentioned, which drugs, which genes, which organisms. The interactive displacy visualiser shown here makes it easy to inspect the results during development.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semantic representations, I trained a domain-specific Word2Vec model on the entire cleaned corpus using Gensim. Using a general model like Google's pre-trained Word2Vec would be poor here because biomedical language is so specialised — for example, 'positive' means test-positive, not an emotion. Domain-specific training ensures the vectors capture the correct semantic neighbourhood for each biomedical term.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71A1F-2354-0CB4-8599-CE2692120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1D06E8-90B6-9648-4EA8-1A1F1B01AE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110117-0FD6-914B-1EF9-3F5D3F7AFC7F}"/>
              </a:ext>
            </a:extLst>
          </p:cNvPr>
          <p:cNvSpPr>
            <a:spLocks noGrp="1"/>
          </p:cNvSpPr>
          <p:nvPr>
            <p:ph type="body" idx="1"/>
          </p:nvPr>
        </p:nvSpPr>
        <p:spPr/>
        <p:txBody>
          <a:bodyPr/>
          <a:lstStyle/>
          <a:p>
            <a:r>
              <a:rPr lang="en-US" dirty="0"/>
              <a:t>For semantic representations, I trained a domain-specific Word2Vec model on the entire cleaned corpus using Gensim. Using a general model like Google's pre-trained Word2Vec would be poor here because biomedical language is so specialised — for example, 'positive' means test-positive, not an emotion. Domain-specific training ensures the vectors capture the correct semantic neighbourhood for each biomedical term.</a:t>
            </a:r>
          </a:p>
        </p:txBody>
      </p:sp>
      <p:sp>
        <p:nvSpPr>
          <p:cNvPr id="4" name="Slide Number Placeholder 3">
            <a:extLst>
              <a:ext uri="{FF2B5EF4-FFF2-40B4-BE49-F238E27FC236}">
                <a16:creationId xmlns:a16="http://schemas.microsoft.com/office/drawing/2014/main" id="{3C628DF5-7427-C795-0A67-A767E892B34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98869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Bi-LSTM architecture processes each abstract in both forward and backward directions, capturing long-range dependencies. The learning curves are a critical deliverable — they show the model learning effectively with training accuracy reaching 93% and validation accuracy plateauing at 91.4% at epoch 12. Early stopping prevented overfitting.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confusion matrices are the most honest way to compare classifiers. The Random Forest matrix shows significant off-diagonal mass between 'transmission' and 'epidemiology' — these classes share overlapping vocabulary. The Bi-LSTM's sequential context awareness resolves this ambiguity, reducing that specific error type by more than a third.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tell a clear story. Logistic Regression is the baseline. Random Forest with TF-IDF features improves substantially. But the Bi-LSTM with domain-specific Word2Vec embeddings achieves 91.4% accuracy and a 0.909 F1-score — a 5.8 percentage point lift over Random Forest. The sequential understanding of biomedical context is the key differentiator.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BCA35-F618-3BE1-AC28-30E7F13A5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814F0-4351-ECC1-FFEB-576103BDDA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E9D3C-ABB5-0E78-EDF8-15CB552BF7A3}"/>
              </a:ext>
            </a:extLst>
          </p:cNvPr>
          <p:cNvSpPr>
            <a:spLocks noGrp="1"/>
          </p:cNvSpPr>
          <p:nvPr>
            <p:ph type="body" idx="1"/>
          </p:nvPr>
        </p:nvSpPr>
        <p:spPr/>
        <p:txBody>
          <a:bodyPr/>
          <a:lstStyle/>
          <a:p>
            <a:r>
              <a:rPr lang="en-US" dirty="0"/>
              <a:t>The numbers tell a clear story. Logistic Regression is the baseline. Random Forest with TF-IDF features improves substantially. But the Bi-LSTM with domain-specific Word2Vec embeddings achieves 91.4% accuracy and a 0.909 F1-score — a 5.8 percentage point lift over Random Forest. The sequential understanding of biomedical context is the key differentiator.</a:t>
            </a:r>
          </a:p>
        </p:txBody>
      </p:sp>
      <p:sp>
        <p:nvSpPr>
          <p:cNvPr id="4" name="Slide Number Placeholder 3">
            <a:extLst>
              <a:ext uri="{FF2B5EF4-FFF2-40B4-BE49-F238E27FC236}">
                <a16:creationId xmlns:a16="http://schemas.microsoft.com/office/drawing/2014/main" id="{EA20A129-8F25-9035-1B7C-CA808636A1B2}"/>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446523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phase is productionisation. The plan is a React single-page app where researchers paste an abstract and receive an instant classification plus entity highlights. FastAPI serves the model, containerised in Docker for reproducibility. I'm also exploring a browser extension that could annotate PubMed search results in real-time.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project demonstrates a practical, end-to-end NLP system for biomedical literature. The three key takeaways are: First, the hybrid architecture combining classical and deep learning tools is more powerful than any single approach. Second, domain-specific pre-training is non-negotiable for technical fields. And third, the scale of impact is real — automated screening of research literature has direct healthcare implications. Thank you, and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081020"/>
          </a:solidFill>
          <a:ln w="12700">
            <a:solidFill>
              <a:srgbClr val="081020"/>
            </a:solidFill>
            <a:prstDash val="solid"/>
          </a:ln>
        </p:spPr>
        <p:txBody>
          <a:bodyPr/>
          <a:lstStyle/>
          <a:p>
            <a:endParaRPr lang="en-US"/>
          </a:p>
        </p:txBody>
      </p:sp>
      <p:sp>
        <p:nvSpPr>
          <p:cNvPr id="3" name="Shape 1"/>
          <p:cNvSpPr/>
          <p:nvPr/>
        </p:nvSpPr>
        <p:spPr>
          <a:xfrm>
            <a:off x="4572000" y="0"/>
            <a:ext cx="4572000" cy="5143500"/>
          </a:xfrm>
          <a:prstGeom prst="rect">
            <a:avLst/>
          </a:prstGeom>
          <a:solidFill>
            <a:srgbClr val="0A1A30"/>
          </a:solidFill>
          <a:ln w="12700">
            <a:solidFill>
              <a:srgbClr val="0A1A30"/>
            </a:solidFill>
            <a:prstDash val="solid"/>
          </a:ln>
        </p:spPr>
        <p:txBody>
          <a:bodyPr/>
          <a:lstStyle/>
          <a:p>
            <a:endParaRPr lang="en-US"/>
          </a:p>
        </p:txBody>
      </p:sp>
      <p:sp>
        <p:nvSpPr>
          <p:cNvPr id="4" name="Shape 2"/>
          <p:cNvSpPr/>
          <p:nvPr/>
        </p:nvSpPr>
        <p:spPr>
          <a:xfrm>
            <a:off x="5943600" y="457200"/>
            <a:ext cx="3200400" cy="3200400"/>
          </a:xfrm>
          <a:prstGeom prst="ellipse">
            <a:avLst/>
          </a:prstGeom>
          <a:solidFill>
            <a:srgbClr val="00B4A6">
              <a:alpha val="12000"/>
            </a:srgbClr>
          </a:solidFill>
          <a:ln w="12700">
            <a:solidFill>
              <a:srgbClr val="00B4A6"/>
            </a:solidFill>
            <a:prstDash val="solid"/>
          </a:ln>
        </p:spPr>
        <p:txBody>
          <a:bodyPr/>
          <a:lstStyle/>
          <a:p>
            <a:endParaRPr lang="en-US"/>
          </a:p>
        </p:txBody>
      </p:sp>
      <p:sp>
        <p:nvSpPr>
          <p:cNvPr id="5" name="Shape 3"/>
          <p:cNvSpPr/>
          <p:nvPr/>
        </p:nvSpPr>
        <p:spPr>
          <a:xfrm>
            <a:off x="0" y="0"/>
            <a:ext cx="9144000" cy="73152"/>
          </a:xfrm>
          <a:prstGeom prst="rect">
            <a:avLst/>
          </a:prstGeom>
          <a:solidFill>
            <a:srgbClr val="00B4A6"/>
          </a:solidFill>
          <a:ln w="12700">
            <a:solidFill>
              <a:srgbClr val="00B4A6"/>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6217920" y="822960"/>
            <a:ext cx="1645920" cy="1645920"/>
          </a:xfrm>
          <a:prstGeom prst="rect">
            <a:avLst/>
          </a:prstGeom>
        </p:spPr>
      </p:pic>
      <p:sp>
        <p:nvSpPr>
          <p:cNvPr id="7" name="Shape 4"/>
          <p:cNvSpPr/>
          <p:nvPr/>
        </p:nvSpPr>
        <p:spPr>
          <a:xfrm>
            <a:off x="457200" y="731520"/>
            <a:ext cx="3840480" cy="310896"/>
          </a:xfrm>
          <a:prstGeom prst="rect">
            <a:avLst/>
          </a:prstGeom>
          <a:solidFill>
            <a:srgbClr val="00B4A6">
              <a:alpha val="80000"/>
            </a:srgbClr>
          </a:solidFill>
          <a:ln w="12700">
            <a:solidFill>
              <a:srgbClr val="00B4A6"/>
            </a:solidFill>
            <a:prstDash val="solid"/>
          </a:ln>
        </p:spPr>
        <p:txBody>
          <a:bodyPr/>
          <a:lstStyle/>
          <a:p>
            <a:endParaRPr lang="en-US"/>
          </a:p>
        </p:txBody>
      </p:sp>
      <p:sp>
        <p:nvSpPr>
          <p:cNvPr id="8" name="Text 5"/>
          <p:cNvSpPr/>
          <p:nvPr/>
        </p:nvSpPr>
        <p:spPr>
          <a:xfrm>
            <a:off x="457200" y="731520"/>
            <a:ext cx="3840480" cy="310896"/>
          </a:xfrm>
          <a:prstGeom prst="rect">
            <a:avLst/>
          </a:prstGeom>
          <a:noFill/>
          <a:ln/>
        </p:spPr>
        <p:txBody>
          <a:bodyPr wrap="square" rtlCol="0" anchor="ctr"/>
          <a:lstStyle/>
          <a:p>
            <a:pPr marL="0" indent="0" algn="ctr">
              <a:buNone/>
            </a:pPr>
            <a:r>
              <a:rPr lang="en-US" sz="900" b="1" kern="0" spc="100" dirty="0">
                <a:solidFill>
                  <a:srgbClr val="00E5CC"/>
                </a:solidFill>
              </a:rPr>
              <a:t>NLP · Machine Learning · Healthcare AI</a:t>
            </a:r>
            <a:endParaRPr lang="en-US" sz="900" dirty="0"/>
          </a:p>
        </p:txBody>
      </p:sp>
      <p:sp>
        <p:nvSpPr>
          <p:cNvPr id="9" name="Text 6"/>
          <p:cNvSpPr/>
          <p:nvPr/>
        </p:nvSpPr>
        <p:spPr>
          <a:xfrm>
            <a:off x="457200" y="1234440"/>
            <a:ext cx="5486400" cy="1737360"/>
          </a:xfrm>
          <a:prstGeom prst="rect">
            <a:avLst/>
          </a:prstGeom>
          <a:noFill/>
          <a:ln/>
        </p:spPr>
        <p:txBody>
          <a:bodyPr wrap="square" rtlCol="0" anchor="t"/>
          <a:lstStyle/>
          <a:p>
            <a:pPr marL="0" indent="0" algn="l">
              <a:lnSpc>
                <a:spcPct val="115000"/>
              </a:lnSpc>
              <a:buNone/>
            </a:pPr>
            <a:r>
              <a:rPr lang="en-US" sz="3400" b="1" dirty="0">
                <a:solidFill>
                  <a:srgbClr val="FFFFFF"/>
                </a:solidFill>
              </a:rPr>
              <a:t>COVID-19 Research</a:t>
            </a:r>
            <a:endParaRPr lang="en-US" sz="3400" dirty="0"/>
          </a:p>
          <a:p>
            <a:pPr marL="0" indent="0" algn="l">
              <a:lnSpc>
                <a:spcPct val="115000"/>
              </a:lnSpc>
              <a:buNone/>
            </a:pPr>
            <a:r>
              <a:rPr lang="en-US" sz="3400" b="1" dirty="0">
                <a:solidFill>
                  <a:srgbClr val="FFFFFF"/>
                </a:solidFill>
              </a:rPr>
              <a:t>Paper Analyzer</a:t>
            </a:r>
            <a:endParaRPr lang="en-US" sz="3400" dirty="0"/>
          </a:p>
        </p:txBody>
      </p:sp>
      <p:sp>
        <p:nvSpPr>
          <p:cNvPr id="10" name="Text 7"/>
          <p:cNvSpPr/>
          <p:nvPr/>
        </p:nvSpPr>
        <p:spPr>
          <a:xfrm>
            <a:off x="457200" y="3017520"/>
            <a:ext cx="5486400" cy="457200"/>
          </a:xfrm>
          <a:prstGeom prst="rect">
            <a:avLst/>
          </a:prstGeom>
          <a:noFill/>
          <a:ln/>
        </p:spPr>
        <p:txBody>
          <a:bodyPr wrap="square" rtlCol="0" anchor="ctr"/>
          <a:lstStyle/>
          <a:p>
            <a:pPr marL="0" indent="0" algn="l">
              <a:buNone/>
            </a:pPr>
            <a:r>
              <a:rPr lang="en-US" sz="1400" i="1" dirty="0">
                <a:solidFill>
                  <a:srgbClr val="00E5CC"/>
                </a:solidFill>
              </a:rPr>
              <a:t>Automated Knowledge Extraction &amp; Classification</a:t>
            </a:r>
            <a:endParaRPr lang="en-US" sz="1400" dirty="0"/>
          </a:p>
        </p:txBody>
      </p:sp>
      <p:sp>
        <p:nvSpPr>
          <p:cNvPr id="11" name="Shape 8"/>
          <p:cNvSpPr/>
          <p:nvPr/>
        </p:nvSpPr>
        <p:spPr>
          <a:xfrm>
            <a:off x="0" y="4480560"/>
            <a:ext cx="9144000" cy="662940"/>
          </a:xfrm>
          <a:prstGeom prst="rect">
            <a:avLst/>
          </a:prstGeom>
          <a:solidFill>
            <a:srgbClr val="060E1A"/>
          </a:solidFill>
          <a:ln w="12700">
            <a:solidFill>
              <a:srgbClr val="060E1A"/>
            </a:solidFill>
            <a:prstDash val="solid"/>
          </a:ln>
        </p:spPr>
        <p:txBody>
          <a:bodyPr/>
          <a:lstStyle/>
          <a:p>
            <a:endParaRPr lang="en-US"/>
          </a:p>
        </p:txBody>
      </p:sp>
      <p:sp>
        <p:nvSpPr>
          <p:cNvPr id="12" name="Text 9"/>
          <p:cNvSpPr/>
          <p:nvPr/>
        </p:nvSpPr>
        <p:spPr>
          <a:xfrm>
            <a:off x="457200" y="4526280"/>
            <a:ext cx="8229600" cy="457200"/>
          </a:xfrm>
          <a:prstGeom prst="rect">
            <a:avLst/>
          </a:prstGeom>
          <a:noFill/>
          <a:ln/>
        </p:spPr>
        <p:txBody>
          <a:bodyPr wrap="square" rtlCol="0" anchor="ctr"/>
          <a:lstStyle/>
          <a:p>
            <a:pPr marL="0" indent="0" algn="l">
              <a:buNone/>
            </a:pPr>
            <a:r>
              <a:rPr lang="en-US" sz="1100" dirty="0">
                <a:solidFill>
                  <a:srgbClr val="708090"/>
                </a:solidFill>
              </a:rPr>
              <a:t>Mohamed ElAmine Haj Mohamed</a:t>
            </a:r>
            <a:endParaRPr lang="en-US" sz="1100" dirty="0"/>
          </a:p>
        </p:txBody>
      </p:sp>
      <p:sp>
        <p:nvSpPr>
          <p:cNvPr id="13" name="Text 10"/>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406070"/>
                </a:solidFill>
              </a:rPr>
              <a:t>1 / 18</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0" y="0"/>
            <a:ext cx="2926080" cy="5143500"/>
          </a:xfrm>
          <a:prstGeom prst="rect">
            <a:avLst/>
          </a:prstGeom>
          <a:solidFill>
            <a:srgbClr val="071020"/>
          </a:solidFill>
          <a:ln w="12700">
            <a:solidFill>
              <a:srgbClr val="071020"/>
            </a:solidFill>
            <a:prstDash val="solid"/>
          </a:ln>
        </p:spPr>
        <p:txBody>
          <a:bodyPr/>
          <a:lstStyle/>
          <a:p>
            <a:endParaRPr lang="en-US"/>
          </a:p>
        </p:txBody>
      </p:sp>
      <p:sp>
        <p:nvSpPr>
          <p:cNvPr id="4" name="Text 2"/>
          <p:cNvSpPr/>
          <p:nvPr/>
        </p:nvSpPr>
        <p:spPr>
          <a:xfrm>
            <a:off x="228600" y="502920"/>
            <a:ext cx="2468880" cy="548640"/>
          </a:xfrm>
          <a:prstGeom prst="rect">
            <a:avLst/>
          </a:prstGeom>
          <a:noFill/>
          <a:ln/>
        </p:spPr>
        <p:txBody>
          <a:bodyPr wrap="square" rtlCol="0" anchor="ctr"/>
          <a:lstStyle/>
          <a:p>
            <a:pPr marL="0" indent="0" algn="l">
              <a:buNone/>
            </a:pPr>
            <a:r>
              <a:rPr lang="en-US" sz="2000" b="1" dirty="0">
                <a:solidFill>
                  <a:srgbClr val="00E5CC"/>
                </a:solidFill>
              </a:rPr>
              <a:t>Contents</a:t>
            </a:r>
            <a:endParaRPr lang="en-US" sz="2000" dirty="0"/>
          </a:p>
        </p:txBody>
      </p:sp>
      <p:sp>
        <p:nvSpPr>
          <p:cNvPr id="5" name="Shape 3"/>
          <p:cNvSpPr/>
          <p:nvPr/>
        </p:nvSpPr>
        <p:spPr>
          <a:xfrm>
            <a:off x="228600" y="1097280"/>
            <a:ext cx="2286000" cy="36576"/>
          </a:xfrm>
          <a:prstGeom prst="rect">
            <a:avLst/>
          </a:prstGeom>
          <a:solidFill>
            <a:srgbClr val="00B4A6"/>
          </a:solidFill>
          <a:ln w="12700">
            <a:solidFill>
              <a:srgbClr val="00B4A6"/>
            </a:solidFill>
            <a:prstDash val="solid"/>
          </a:ln>
        </p:spPr>
        <p:txBody>
          <a:bodyPr/>
          <a:lstStyle/>
          <a:p>
            <a:endParaRPr lang="en-US"/>
          </a:p>
        </p:txBody>
      </p:sp>
      <p:sp>
        <p:nvSpPr>
          <p:cNvPr id="6" name="Text 4"/>
          <p:cNvSpPr/>
          <p:nvPr/>
        </p:nvSpPr>
        <p:spPr>
          <a:xfrm>
            <a:off x="228600" y="1234440"/>
            <a:ext cx="2468880" cy="1005840"/>
          </a:xfrm>
          <a:prstGeom prst="rect">
            <a:avLst/>
          </a:prstGeom>
          <a:noFill/>
          <a:ln/>
        </p:spPr>
        <p:txBody>
          <a:bodyPr wrap="square" rtlCol="0" anchor="ctr"/>
          <a:lstStyle/>
          <a:p>
            <a:pPr marL="0" indent="0" algn="l">
              <a:lnSpc>
                <a:spcPct val="130000"/>
              </a:lnSpc>
              <a:buNone/>
            </a:pPr>
            <a:r>
              <a:rPr lang="en-US" sz="1100" i="1" dirty="0">
                <a:solidFill>
                  <a:srgbClr val="7090A0"/>
                </a:solidFill>
              </a:rPr>
              <a:t>COVID-19 Research</a:t>
            </a:r>
            <a:endParaRPr lang="en-US" sz="1100" dirty="0"/>
          </a:p>
          <a:p>
            <a:pPr marL="0" indent="0" algn="l">
              <a:lnSpc>
                <a:spcPct val="130000"/>
              </a:lnSpc>
              <a:buNone/>
            </a:pPr>
            <a:r>
              <a:rPr lang="en-US" sz="1100" i="1" dirty="0">
                <a:solidFill>
                  <a:srgbClr val="7090A0"/>
                </a:solidFill>
              </a:rPr>
              <a:t>Paper Analyzer</a:t>
            </a:r>
            <a:endParaRPr lang="en-US" sz="1100" dirty="0"/>
          </a:p>
        </p:txBody>
      </p:sp>
      <p:sp>
        <p:nvSpPr>
          <p:cNvPr id="7" name="Shape 5"/>
          <p:cNvSpPr/>
          <p:nvPr/>
        </p:nvSpPr>
        <p:spPr>
          <a:xfrm>
            <a:off x="365760" y="3200400"/>
            <a:ext cx="2194560" cy="2194560"/>
          </a:xfrm>
          <a:prstGeom prst="ellipse">
            <a:avLst/>
          </a:prstGeom>
          <a:solidFill>
            <a:srgbClr val="00B4A6">
              <a:alpha val="8000"/>
            </a:srgbClr>
          </a:solidFill>
          <a:ln w="12700">
            <a:solidFill>
              <a:srgbClr val="00B4A6">
                <a:alpha val="30000"/>
              </a:srgbClr>
            </a:solidFill>
            <a:prstDash val="solid"/>
          </a:ln>
        </p:spPr>
        <p:txBody>
          <a:bodyPr/>
          <a:lstStyle/>
          <a:p>
            <a:endParaRPr lang="en-US"/>
          </a:p>
        </p:txBody>
      </p:sp>
      <p:sp>
        <p:nvSpPr>
          <p:cNvPr id="8" name="Text 6"/>
          <p:cNvSpPr/>
          <p:nvPr/>
        </p:nvSpPr>
        <p:spPr>
          <a:xfrm>
            <a:off x="228600" y="4480560"/>
            <a:ext cx="2468880" cy="365760"/>
          </a:xfrm>
          <a:prstGeom prst="rect">
            <a:avLst/>
          </a:prstGeom>
          <a:noFill/>
          <a:ln/>
        </p:spPr>
        <p:txBody>
          <a:bodyPr wrap="square" rtlCol="0" anchor="ctr"/>
          <a:lstStyle/>
          <a:p>
            <a:pPr marL="0" indent="0" algn="l">
              <a:buNone/>
            </a:pPr>
            <a:r>
              <a:rPr lang="en-US" sz="850" dirty="0">
                <a:solidFill>
                  <a:srgbClr val="506070"/>
                </a:solidFill>
              </a:rPr>
              <a:t>18 Slides  ·  5 Phases</a:t>
            </a:r>
            <a:endParaRPr lang="en-US" sz="850" dirty="0"/>
          </a:p>
        </p:txBody>
      </p:sp>
      <p:sp>
        <p:nvSpPr>
          <p:cNvPr id="9" name="Shape 7"/>
          <p:cNvSpPr/>
          <p:nvPr/>
        </p:nvSpPr>
        <p:spPr>
          <a:xfrm>
            <a:off x="3154680" y="274320"/>
            <a:ext cx="5760720" cy="548640"/>
          </a:xfrm>
          <a:prstGeom prst="rect">
            <a:avLst/>
          </a:prstGeom>
          <a:solidFill>
            <a:srgbClr val="0D2035"/>
          </a:solidFill>
          <a:ln w="6350">
            <a:solidFill>
              <a:srgbClr val="1A3050"/>
            </a:solidFill>
            <a:prstDash val="solid"/>
          </a:ln>
        </p:spPr>
        <p:txBody>
          <a:bodyPr/>
          <a:lstStyle/>
          <a:p>
            <a:endParaRPr lang="en-US"/>
          </a:p>
        </p:txBody>
      </p:sp>
      <p:sp>
        <p:nvSpPr>
          <p:cNvPr id="10" name="Shape 8"/>
          <p:cNvSpPr/>
          <p:nvPr/>
        </p:nvSpPr>
        <p:spPr>
          <a:xfrm>
            <a:off x="3154680" y="274320"/>
            <a:ext cx="54864" cy="548640"/>
          </a:xfrm>
          <a:prstGeom prst="rect">
            <a:avLst/>
          </a:prstGeom>
          <a:solidFill>
            <a:srgbClr val="FF6B35"/>
          </a:solidFill>
          <a:ln w="12700">
            <a:solidFill>
              <a:srgbClr val="FF6B35"/>
            </a:solidFill>
            <a:prstDash val="solid"/>
          </a:ln>
        </p:spPr>
        <p:txBody>
          <a:bodyPr/>
          <a:lstStyle/>
          <a:p>
            <a:endParaRPr lang="en-US"/>
          </a:p>
        </p:txBody>
      </p:sp>
      <p:sp>
        <p:nvSpPr>
          <p:cNvPr id="11" name="Shape 9"/>
          <p:cNvSpPr/>
          <p:nvPr/>
        </p:nvSpPr>
        <p:spPr>
          <a:xfrm>
            <a:off x="3264408" y="384048"/>
            <a:ext cx="384048" cy="329184"/>
          </a:xfrm>
          <a:prstGeom prst="rect">
            <a:avLst/>
          </a:prstGeom>
          <a:solidFill>
            <a:srgbClr val="FF6B35">
              <a:alpha val="75000"/>
            </a:srgbClr>
          </a:solidFill>
          <a:ln w="12700">
            <a:solidFill>
              <a:srgbClr val="FF6B35"/>
            </a:solidFill>
            <a:prstDash val="solid"/>
          </a:ln>
        </p:spPr>
        <p:txBody>
          <a:bodyPr/>
          <a:lstStyle/>
          <a:p>
            <a:endParaRPr lang="en-US"/>
          </a:p>
        </p:txBody>
      </p:sp>
      <p:sp>
        <p:nvSpPr>
          <p:cNvPr id="12" name="Text 10"/>
          <p:cNvSpPr/>
          <p:nvPr/>
        </p:nvSpPr>
        <p:spPr>
          <a:xfrm>
            <a:off x="3264408" y="384048"/>
            <a:ext cx="384048" cy="329184"/>
          </a:xfrm>
          <a:prstGeom prst="rect">
            <a:avLst/>
          </a:prstGeom>
          <a:noFill/>
          <a:ln/>
        </p:spPr>
        <p:txBody>
          <a:bodyPr wrap="square" rtlCol="0" anchor="ctr"/>
          <a:lstStyle/>
          <a:p>
            <a:pPr marL="0" indent="0" algn="ctr">
              <a:buNone/>
            </a:pPr>
            <a:r>
              <a:rPr lang="en-US" sz="900" b="1" dirty="0">
                <a:solidFill>
                  <a:srgbClr val="FFFFFF"/>
                </a:solidFill>
              </a:rPr>
              <a:t>03</a:t>
            </a:r>
            <a:endParaRPr lang="en-US" sz="900" dirty="0"/>
          </a:p>
        </p:txBody>
      </p:sp>
      <p:sp>
        <p:nvSpPr>
          <p:cNvPr id="13" name="Text 11"/>
          <p:cNvSpPr/>
          <p:nvPr/>
        </p:nvSpPr>
        <p:spPr>
          <a:xfrm>
            <a:off x="3749040" y="329184"/>
            <a:ext cx="4114800" cy="256032"/>
          </a:xfrm>
          <a:prstGeom prst="rect">
            <a:avLst/>
          </a:prstGeom>
          <a:noFill/>
          <a:ln/>
        </p:spPr>
        <p:txBody>
          <a:bodyPr wrap="square" rtlCol="0" anchor="ctr"/>
          <a:lstStyle/>
          <a:p>
            <a:pPr marL="0" indent="0" algn="l">
              <a:buNone/>
            </a:pPr>
            <a:r>
              <a:rPr lang="en-US" sz="1100" b="1" dirty="0">
                <a:solidFill>
                  <a:srgbClr val="FFFFFF"/>
                </a:solidFill>
              </a:rPr>
              <a:t>The Challenge</a:t>
            </a:r>
            <a:endParaRPr lang="en-US" sz="1100" dirty="0"/>
          </a:p>
        </p:txBody>
      </p:sp>
      <p:sp>
        <p:nvSpPr>
          <p:cNvPr id="14" name="Text 12"/>
          <p:cNvSpPr/>
          <p:nvPr/>
        </p:nvSpPr>
        <p:spPr>
          <a:xfrm>
            <a:off x="3749040" y="566928"/>
            <a:ext cx="4114800" cy="201168"/>
          </a:xfrm>
          <a:prstGeom prst="rect">
            <a:avLst/>
          </a:prstGeom>
          <a:noFill/>
          <a:ln/>
        </p:spPr>
        <p:txBody>
          <a:bodyPr wrap="square" rtlCol="0" anchor="ctr"/>
          <a:lstStyle/>
          <a:p>
            <a:pPr marL="0" indent="0" algn="l">
              <a:buNone/>
            </a:pPr>
            <a:r>
              <a:rPr lang="en-US" sz="850" i="1" dirty="0">
                <a:solidFill>
                  <a:srgbClr val="6090A8"/>
                </a:solidFill>
              </a:rPr>
              <a:t>Why automation matters</a:t>
            </a:r>
            <a:endParaRPr lang="en-US" sz="850" dirty="0"/>
          </a:p>
        </p:txBody>
      </p:sp>
      <p:sp>
        <p:nvSpPr>
          <p:cNvPr id="15" name="Text 13"/>
          <p:cNvSpPr/>
          <p:nvPr/>
        </p:nvSpPr>
        <p:spPr>
          <a:xfrm>
            <a:off x="7818120" y="438912"/>
            <a:ext cx="868680" cy="228600"/>
          </a:xfrm>
          <a:prstGeom prst="rect">
            <a:avLst/>
          </a:prstGeom>
          <a:noFill/>
          <a:ln/>
        </p:spPr>
        <p:txBody>
          <a:bodyPr wrap="square" rtlCol="0" anchor="ctr"/>
          <a:lstStyle/>
          <a:p>
            <a:pPr marL="0" indent="0" algn="r">
              <a:buNone/>
            </a:pPr>
            <a:r>
              <a:rPr lang="en-US" sz="700" dirty="0">
                <a:solidFill>
                  <a:srgbClr val="304555"/>
                </a:solidFill>
              </a:rPr>
              <a:t>· · · · · · · · · · · ·</a:t>
            </a:r>
            <a:endParaRPr lang="en-US" sz="700" dirty="0"/>
          </a:p>
        </p:txBody>
      </p:sp>
      <p:sp>
        <p:nvSpPr>
          <p:cNvPr id="16" name="Shape 14"/>
          <p:cNvSpPr/>
          <p:nvPr/>
        </p:nvSpPr>
        <p:spPr>
          <a:xfrm>
            <a:off x="3154680" y="859536"/>
            <a:ext cx="5760720" cy="548640"/>
          </a:xfrm>
          <a:prstGeom prst="rect">
            <a:avLst/>
          </a:prstGeom>
          <a:solidFill>
            <a:srgbClr val="091828"/>
          </a:solidFill>
          <a:ln w="6350">
            <a:solidFill>
              <a:srgbClr val="1A3050"/>
            </a:solidFill>
            <a:prstDash val="solid"/>
          </a:ln>
        </p:spPr>
        <p:txBody>
          <a:bodyPr/>
          <a:lstStyle/>
          <a:p>
            <a:endParaRPr lang="en-US"/>
          </a:p>
        </p:txBody>
      </p:sp>
      <p:sp>
        <p:nvSpPr>
          <p:cNvPr id="17" name="Shape 15"/>
          <p:cNvSpPr/>
          <p:nvPr/>
        </p:nvSpPr>
        <p:spPr>
          <a:xfrm>
            <a:off x="3154680" y="859536"/>
            <a:ext cx="54864" cy="548640"/>
          </a:xfrm>
          <a:prstGeom prst="rect">
            <a:avLst/>
          </a:prstGeom>
          <a:solidFill>
            <a:srgbClr val="00B4A6"/>
          </a:solidFill>
          <a:ln w="12700">
            <a:solidFill>
              <a:srgbClr val="00B4A6"/>
            </a:solidFill>
            <a:prstDash val="solid"/>
          </a:ln>
        </p:spPr>
        <p:txBody>
          <a:bodyPr/>
          <a:lstStyle/>
          <a:p>
            <a:endParaRPr lang="en-US"/>
          </a:p>
        </p:txBody>
      </p:sp>
      <p:sp>
        <p:nvSpPr>
          <p:cNvPr id="18" name="Shape 16"/>
          <p:cNvSpPr/>
          <p:nvPr/>
        </p:nvSpPr>
        <p:spPr>
          <a:xfrm>
            <a:off x="3264408" y="969264"/>
            <a:ext cx="384048" cy="329184"/>
          </a:xfrm>
          <a:prstGeom prst="rect">
            <a:avLst/>
          </a:prstGeom>
          <a:solidFill>
            <a:srgbClr val="00B4A6">
              <a:alpha val="75000"/>
            </a:srgbClr>
          </a:solidFill>
          <a:ln w="12700">
            <a:solidFill>
              <a:srgbClr val="00B4A6"/>
            </a:solidFill>
            <a:prstDash val="solid"/>
          </a:ln>
        </p:spPr>
        <p:txBody>
          <a:bodyPr/>
          <a:lstStyle/>
          <a:p>
            <a:endParaRPr lang="en-US"/>
          </a:p>
        </p:txBody>
      </p:sp>
      <p:sp>
        <p:nvSpPr>
          <p:cNvPr id="19" name="Text 17"/>
          <p:cNvSpPr/>
          <p:nvPr/>
        </p:nvSpPr>
        <p:spPr>
          <a:xfrm>
            <a:off x="3264408" y="969264"/>
            <a:ext cx="384048" cy="329184"/>
          </a:xfrm>
          <a:prstGeom prst="rect">
            <a:avLst/>
          </a:prstGeom>
          <a:noFill/>
          <a:ln/>
        </p:spPr>
        <p:txBody>
          <a:bodyPr wrap="square" rtlCol="0" anchor="ctr"/>
          <a:lstStyle/>
          <a:p>
            <a:pPr marL="0" indent="0" algn="ctr">
              <a:buNone/>
            </a:pPr>
            <a:r>
              <a:rPr lang="en-US" sz="900" b="1" dirty="0">
                <a:solidFill>
                  <a:srgbClr val="FFFFFF"/>
                </a:solidFill>
              </a:rPr>
              <a:t>04</a:t>
            </a:r>
            <a:endParaRPr lang="en-US" sz="900" dirty="0"/>
          </a:p>
        </p:txBody>
      </p:sp>
      <p:sp>
        <p:nvSpPr>
          <p:cNvPr id="20" name="Text 18"/>
          <p:cNvSpPr/>
          <p:nvPr/>
        </p:nvSpPr>
        <p:spPr>
          <a:xfrm>
            <a:off x="3749040" y="914400"/>
            <a:ext cx="4114800" cy="256032"/>
          </a:xfrm>
          <a:prstGeom prst="rect">
            <a:avLst/>
          </a:prstGeom>
          <a:noFill/>
          <a:ln/>
        </p:spPr>
        <p:txBody>
          <a:bodyPr wrap="square" rtlCol="0" anchor="ctr"/>
          <a:lstStyle/>
          <a:p>
            <a:pPr marL="0" indent="0" algn="l">
              <a:buNone/>
            </a:pPr>
            <a:r>
              <a:rPr lang="en-US" sz="1100" b="1" dirty="0">
                <a:solidFill>
                  <a:srgbClr val="FFFFFF"/>
                </a:solidFill>
              </a:rPr>
              <a:t>Pipeline Overview</a:t>
            </a:r>
            <a:endParaRPr lang="en-US" sz="1100" dirty="0"/>
          </a:p>
        </p:txBody>
      </p:sp>
      <p:sp>
        <p:nvSpPr>
          <p:cNvPr id="21" name="Text 19"/>
          <p:cNvSpPr/>
          <p:nvPr/>
        </p:nvSpPr>
        <p:spPr>
          <a:xfrm>
            <a:off x="3749040" y="1152144"/>
            <a:ext cx="4114800" cy="201168"/>
          </a:xfrm>
          <a:prstGeom prst="rect">
            <a:avLst/>
          </a:prstGeom>
          <a:noFill/>
          <a:ln/>
        </p:spPr>
        <p:txBody>
          <a:bodyPr wrap="square" rtlCol="0" anchor="ctr"/>
          <a:lstStyle/>
          <a:p>
            <a:pPr marL="0" indent="0" algn="l">
              <a:buNone/>
            </a:pPr>
            <a:r>
              <a:rPr lang="en-US" sz="850" i="1" dirty="0">
                <a:solidFill>
                  <a:srgbClr val="6090A8"/>
                </a:solidFill>
              </a:rPr>
              <a:t>End-to-end architecture</a:t>
            </a:r>
            <a:endParaRPr lang="en-US" sz="850" dirty="0"/>
          </a:p>
        </p:txBody>
      </p:sp>
      <p:sp>
        <p:nvSpPr>
          <p:cNvPr id="22" name="Text 20"/>
          <p:cNvSpPr/>
          <p:nvPr/>
        </p:nvSpPr>
        <p:spPr>
          <a:xfrm>
            <a:off x="7818120" y="1024128"/>
            <a:ext cx="868680" cy="228600"/>
          </a:xfrm>
          <a:prstGeom prst="rect">
            <a:avLst/>
          </a:prstGeom>
          <a:noFill/>
          <a:ln/>
        </p:spPr>
        <p:txBody>
          <a:bodyPr wrap="square" rtlCol="0" anchor="ctr"/>
          <a:lstStyle/>
          <a:p>
            <a:pPr marL="0" indent="0" algn="r">
              <a:buNone/>
            </a:pPr>
            <a:r>
              <a:rPr lang="en-US" sz="700" dirty="0">
                <a:solidFill>
                  <a:srgbClr val="304555"/>
                </a:solidFill>
              </a:rPr>
              <a:t>· · · · · · · · · · · ·</a:t>
            </a:r>
            <a:endParaRPr lang="en-US" sz="700" dirty="0"/>
          </a:p>
        </p:txBody>
      </p:sp>
      <p:sp>
        <p:nvSpPr>
          <p:cNvPr id="23" name="Shape 21"/>
          <p:cNvSpPr/>
          <p:nvPr/>
        </p:nvSpPr>
        <p:spPr>
          <a:xfrm>
            <a:off x="3154680" y="1444752"/>
            <a:ext cx="5760720" cy="548640"/>
          </a:xfrm>
          <a:prstGeom prst="rect">
            <a:avLst/>
          </a:prstGeom>
          <a:solidFill>
            <a:srgbClr val="0D2035"/>
          </a:solidFill>
          <a:ln w="6350">
            <a:solidFill>
              <a:srgbClr val="1A3050"/>
            </a:solidFill>
            <a:prstDash val="solid"/>
          </a:ln>
        </p:spPr>
        <p:txBody>
          <a:bodyPr/>
          <a:lstStyle/>
          <a:p>
            <a:endParaRPr lang="en-US"/>
          </a:p>
        </p:txBody>
      </p:sp>
      <p:sp>
        <p:nvSpPr>
          <p:cNvPr id="24" name="Shape 22"/>
          <p:cNvSpPr/>
          <p:nvPr/>
        </p:nvSpPr>
        <p:spPr>
          <a:xfrm>
            <a:off x="3154680" y="1444752"/>
            <a:ext cx="54864" cy="548640"/>
          </a:xfrm>
          <a:prstGeom prst="rect">
            <a:avLst/>
          </a:prstGeom>
          <a:solidFill>
            <a:srgbClr val="22C55E"/>
          </a:solidFill>
          <a:ln w="12700">
            <a:solidFill>
              <a:srgbClr val="22C55E"/>
            </a:solidFill>
            <a:prstDash val="solid"/>
          </a:ln>
        </p:spPr>
        <p:txBody>
          <a:bodyPr/>
          <a:lstStyle/>
          <a:p>
            <a:endParaRPr lang="en-US"/>
          </a:p>
        </p:txBody>
      </p:sp>
      <p:sp>
        <p:nvSpPr>
          <p:cNvPr id="25" name="Shape 23"/>
          <p:cNvSpPr/>
          <p:nvPr/>
        </p:nvSpPr>
        <p:spPr>
          <a:xfrm>
            <a:off x="3264408" y="1554480"/>
            <a:ext cx="384048" cy="329184"/>
          </a:xfrm>
          <a:prstGeom prst="rect">
            <a:avLst/>
          </a:prstGeom>
          <a:solidFill>
            <a:srgbClr val="22C55E">
              <a:alpha val="75000"/>
            </a:srgbClr>
          </a:solidFill>
          <a:ln w="12700">
            <a:solidFill>
              <a:srgbClr val="22C55E"/>
            </a:solidFill>
            <a:prstDash val="solid"/>
          </a:ln>
        </p:spPr>
        <p:txBody>
          <a:bodyPr/>
          <a:lstStyle/>
          <a:p>
            <a:endParaRPr lang="en-US"/>
          </a:p>
        </p:txBody>
      </p:sp>
      <p:sp>
        <p:nvSpPr>
          <p:cNvPr id="26" name="Text 24"/>
          <p:cNvSpPr/>
          <p:nvPr/>
        </p:nvSpPr>
        <p:spPr>
          <a:xfrm>
            <a:off x="3264408" y="1554480"/>
            <a:ext cx="384048" cy="329184"/>
          </a:xfrm>
          <a:prstGeom prst="rect">
            <a:avLst/>
          </a:prstGeom>
          <a:noFill/>
          <a:ln/>
        </p:spPr>
        <p:txBody>
          <a:bodyPr wrap="square" rtlCol="0" anchor="ctr"/>
          <a:lstStyle/>
          <a:p>
            <a:pPr marL="0" indent="0" algn="ctr">
              <a:buNone/>
            </a:pPr>
            <a:r>
              <a:rPr lang="en-US" sz="900" b="1" dirty="0">
                <a:solidFill>
                  <a:srgbClr val="FFFFFF"/>
                </a:solidFill>
              </a:rPr>
              <a:t>05</a:t>
            </a:r>
            <a:endParaRPr lang="en-US" sz="900" dirty="0"/>
          </a:p>
        </p:txBody>
      </p:sp>
      <p:sp>
        <p:nvSpPr>
          <p:cNvPr id="27" name="Text 25"/>
          <p:cNvSpPr/>
          <p:nvPr/>
        </p:nvSpPr>
        <p:spPr>
          <a:xfrm>
            <a:off x="3749040" y="1499616"/>
            <a:ext cx="4114800" cy="256032"/>
          </a:xfrm>
          <a:prstGeom prst="rect">
            <a:avLst/>
          </a:prstGeom>
          <a:noFill/>
          <a:ln/>
        </p:spPr>
        <p:txBody>
          <a:bodyPr wrap="square" rtlCol="0" anchor="ctr"/>
          <a:lstStyle/>
          <a:p>
            <a:pPr marL="0" indent="0" algn="l">
              <a:buNone/>
            </a:pPr>
            <a:r>
              <a:rPr lang="en-US" sz="1100" b="1" dirty="0">
                <a:solidFill>
                  <a:srgbClr val="FFFFFF"/>
                </a:solidFill>
              </a:rPr>
              <a:t>Dataset &amp; EDA</a:t>
            </a:r>
            <a:endParaRPr lang="en-US" sz="1100" dirty="0"/>
          </a:p>
        </p:txBody>
      </p:sp>
      <p:sp>
        <p:nvSpPr>
          <p:cNvPr id="28" name="Text 26"/>
          <p:cNvSpPr/>
          <p:nvPr/>
        </p:nvSpPr>
        <p:spPr>
          <a:xfrm>
            <a:off x="3749040" y="1737360"/>
            <a:ext cx="4114800" cy="201168"/>
          </a:xfrm>
          <a:prstGeom prst="rect">
            <a:avLst/>
          </a:prstGeom>
          <a:noFill/>
          <a:ln/>
        </p:spPr>
        <p:txBody>
          <a:bodyPr wrap="square" rtlCol="0" anchor="ctr"/>
          <a:lstStyle/>
          <a:p>
            <a:pPr marL="0" indent="0" algn="l">
              <a:buNone/>
            </a:pPr>
            <a:r>
              <a:rPr lang="en-US" sz="850" i="1" dirty="0">
                <a:solidFill>
                  <a:srgbClr val="6090A8"/>
                </a:solidFill>
              </a:rPr>
              <a:t>Slides 05–08: data exploration</a:t>
            </a:r>
            <a:endParaRPr lang="en-US" sz="850" dirty="0"/>
          </a:p>
        </p:txBody>
      </p:sp>
      <p:sp>
        <p:nvSpPr>
          <p:cNvPr id="29" name="Text 27"/>
          <p:cNvSpPr/>
          <p:nvPr/>
        </p:nvSpPr>
        <p:spPr>
          <a:xfrm>
            <a:off x="7818120" y="1609344"/>
            <a:ext cx="868680" cy="228600"/>
          </a:xfrm>
          <a:prstGeom prst="rect">
            <a:avLst/>
          </a:prstGeom>
          <a:noFill/>
          <a:ln/>
        </p:spPr>
        <p:txBody>
          <a:bodyPr wrap="square" rtlCol="0" anchor="ctr"/>
          <a:lstStyle/>
          <a:p>
            <a:pPr marL="0" indent="0" algn="r">
              <a:buNone/>
            </a:pPr>
            <a:r>
              <a:rPr lang="en-US" sz="700" dirty="0">
                <a:solidFill>
                  <a:srgbClr val="304555"/>
                </a:solidFill>
              </a:rPr>
              <a:t>· · · · · · · · · · · ·</a:t>
            </a:r>
            <a:endParaRPr lang="en-US" sz="700" dirty="0"/>
          </a:p>
        </p:txBody>
      </p:sp>
      <p:sp>
        <p:nvSpPr>
          <p:cNvPr id="30" name="Shape 28"/>
          <p:cNvSpPr/>
          <p:nvPr/>
        </p:nvSpPr>
        <p:spPr>
          <a:xfrm>
            <a:off x="3154680" y="2029968"/>
            <a:ext cx="5760720" cy="548640"/>
          </a:xfrm>
          <a:prstGeom prst="rect">
            <a:avLst/>
          </a:prstGeom>
          <a:solidFill>
            <a:srgbClr val="091828"/>
          </a:solidFill>
          <a:ln w="6350">
            <a:solidFill>
              <a:srgbClr val="1A3050"/>
            </a:solidFill>
            <a:prstDash val="solid"/>
          </a:ln>
        </p:spPr>
        <p:txBody>
          <a:bodyPr/>
          <a:lstStyle/>
          <a:p>
            <a:endParaRPr lang="en-US"/>
          </a:p>
        </p:txBody>
      </p:sp>
      <p:sp>
        <p:nvSpPr>
          <p:cNvPr id="31" name="Shape 29"/>
          <p:cNvSpPr/>
          <p:nvPr/>
        </p:nvSpPr>
        <p:spPr>
          <a:xfrm>
            <a:off x="3154680" y="2029968"/>
            <a:ext cx="54864" cy="548640"/>
          </a:xfrm>
          <a:prstGeom prst="rect">
            <a:avLst/>
          </a:prstGeom>
          <a:solidFill>
            <a:srgbClr val="22C55E"/>
          </a:solidFill>
          <a:ln w="12700">
            <a:solidFill>
              <a:srgbClr val="22C55E"/>
            </a:solidFill>
            <a:prstDash val="solid"/>
          </a:ln>
        </p:spPr>
        <p:txBody>
          <a:bodyPr/>
          <a:lstStyle/>
          <a:p>
            <a:endParaRPr lang="en-US"/>
          </a:p>
        </p:txBody>
      </p:sp>
      <p:sp>
        <p:nvSpPr>
          <p:cNvPr id="32" name="Shape 30"/>
          <p:cNvSpPr/>
          <p:nvPr/>
        </p:nvSpPr>
        <p:spPr>
          <a:xfrm>
            <a:off x="3264408" y="2139696"/>
            <a:ext cx="384048" cy="329184"/>
          </a:xfrm>
          <a:prstGeom prst="rect">
            <a:avLst/>
          </a:prstGeom>
          <a:solidFill>
            <a:srgbClr val="22C55E">
              <a:alpha val="75000"/>
            </a:srgbClr>
          </a:solidFill>
          <a:ln w="12700">
            <a:solidFill>
              <a:srgbClr val="22C55E"/>
            </a:solidFill>
            <a:prstDash val="solid"/>
          </a:ln>
        </p:spPr>
        <p:txBody>
          <a:bodyPr/>
          <a:lstStyle/>
          <a:p>
            <a:endParaRPr lang="en-US"/>
          </a:p>
        </p:txBody>
      </p:sp>
      <p:sp>
        <p:nvSpPr>
          <p:cNvPr id="33" name="Text 31"/>
          <p:cNvSpPr/>
          <p:nvPr/>
        </p:nvSpPr>
        <p:spPr>
          <a:xfrm>
            <a:off x="3264408" y="2139696"/>
            <a:ext cx="384048" cy="329184"/>
          </a:xfrm>
          <a:prstGeom prst="rect">
            <a:avLst/>
          </a:prstGeom>
          <a:noFill/>
          <a:ln/>
        </p:spPr>
        <p:txBody>
          <a:bodyPr wrap="square" rtlCol="0" anchor="ctr"/>
          <a:lstStyle/>
          <a:p>
            <a:pPr marL="0" indent="0" algn="ctr">
              <a:buNone/>
            </a:pPr>
            <a:r>
              <a:rPr lang="en-US" sz="900" b="1" dirty="0">
                <a:solidFill>
                  <a:srgbClr val="FFFFFF"/>
                </a:solidFill>
              </a:rPr>
              <a:t>09</a:t>
            </a:r>
            <a:endParaRPr lang="en-US" sz="900" dirty="0"/>
          </a:p>
        </p:txBody>
      </p:sp>
      <p:sp>
        <p:nvSpPr>
          <p:cNvPr id="34" name="Text 32"/>
          <p:cNvSpPr/>
          <p:nvPr/>
        </p:nvSpPr>
        <p:spPr>
          <a:xfrm>
            <a:off x="3749040" y="2084832"/>
            <a:ext cx="4114800" cy="256032"/>
          </a:xfrm>
          <a:prstGeom prst="rect">
            <a:avLst/>
          </a:prstGeom>
          <a:noFill/>
          <a:ln/>
        </p:spPr>
        <p:txBody>
          <a:bodyPr wrap="square" rtlCol="0" anchor="ctr"/>
          <a:lstStyle/>
          <a:p>
            <a:pPr marL="0" indent="0" algn="l">
              <a:buNone/>
            </a:pPr>
            <a:r>
              <a:rPr lang="en-US" sz="1100" b="1" dirty="0">
                <a:solidFill>
                  <a:srgbClr val="FFFFFF"/>
                </a:solidFill>
              </a:rPr>
              <a:t>Phase 1 — NLTK</a:t>
            </a:r>
            <a:endParaRPr lang="en-US" sz="1100" dirty="0"/>
          </a:p>
        </p:txBody>
      </p:sp>
      <p:sp>
        <p:nvSpPr>
          <p:cNvPr id="35" name="Text 33"/>
          <p:cNvSpPr/>
          <p:nvPr/>
        </p:nvSpPr>
        <p:spPr>
          <a:xfrm>
            <a:off x="3749040" y="2322576"/>
            <a:ext cx="4114800" cy="201168"/>
          </a:xfrm>
          <a:prstGeom prst="rect">
            <a:avLst/>
          </a:prstGeom>
          <a:noFill/>
          <a:ln/>
        </p:spPr>
        <p:txBody>
          <a:bodyPr wrap="square" rtlCol="0" anchor="ctr"/>
          <a:lstStyle/>
          <a:p>
            <a:pPr marL="0" indent="0" algn="l">
              <a:buNone/>
            </a:pPr>
            <a:r>
              <a:rPr lang="en-US" sz="850" i="1" dirty="0">
                <a:solidFill>
                  <a:srgbClr val="6090A8"/>
                </a:solidFill>
              </a:rPr>
              <a:t>Text cleaning &amp; preprocessing</a:t>
            </a:r>
            <a:endParaRPr lang="en-US" sz="850" dirty="0"/>
          </a:p>
        </p:txBody>
      </p:sp>
      <p:sp>
        <p:nvSpPr>
          <p:cNvPr id="36" name="Text 34"/>
          <p:cNvSpPr/>
          <p:nvPr/>
        </p:nvSpPr>
        <p:spPr>
          <a:xfrm>
            <a:off x="7818120" y="2194560"/>
            <a:ext cx="868680" cy="228600"/>
          </a:xfrm>
          <a:prstGeom prst="rect">
            <a:avLst/>
          </a:prstGeom>
          <a:noFill/>
          <a:ln/>
        </p:spPr>
        <p:txBody>
          <a:bodyPr wrap="square" rtlCol="0" anchor="ctr"/>
          <a:lstStyle/>
          <a:p>
            <a:pPr marL="0" indent="0" algn="r">
              <a:buNone/>
            </a:pPr>
            <a:r>
              <a:rPr lang="en-US" sz="700" dirty="0">
                <a:solidFill>
                  <a:srgbClr val="304555"/>
                </a:solidFill>
              </a:rPr>
              <a:t>· · · · · · · · · · · ·</a:t>
            </a:r>
            <a:endParaRPr lang="en-US" sz="700" dirty="0"/>
          </a:p>
        </p:txBody>
      </p:sp>
      <p:sp>
        <p:nvSpPr>
          <p:cNvPr id="37" name="Shape 35"/>
          <p:cNvSpPr/>
          <p:nvPr/>
        </p:nvSpPr>
        <p:spPr>
          <a:xfrm>
            <a:off x="3154680" y="2615184"/>
            <a:ext cx="5760720" cy="548640"/>
          </a:xfrm>
          <a:prstGeom prst="rect">
            <a:avLst/>
          </a:prstGeom>
          <a:solidFill>
            <a:srgbClr val="0D2035"/>
          </a:solidFill>
          <a:ln w="6350">
            <a:solidFill>
              <a:srgbClr val="1A3050"/>
            </a:solidFill>
            <a:prstDash val="solid"/>
          </a:ln>
        </p:spPr>
        <p:txBody>
          <a:bodyPr/>
          <a:lstStyle/>
          <a:p>
            <a:endParaRPr lang="en-US"/>
          </a:p>
        </p:txBody>
      </p:sp>
      <p:sp>
        <p:nvSpPr>
          <p:cNvPr id="38" name="Shape 36"/>
          <p:cNvSpPr/>
          <p:nvPr/>
        </p:nvSpPr>
        <p:spPr>
          <a:xfrm>
            <a:off x="3154680" y="2615184"/>
            <a:ext cx="54864" cy="548640"/>
          </a:xfrm>
          <a:prstGeom prst="rect">
            <a:avLst/>
          </a:prstGeom>
          <a:solidFill>
            <a:srgbClr val="FF6B35"/>
          </a:solidFill>
          <a:ln w="12700">
            <a:solidFill>
              <a:srgbClr val="FF6B35"/>
            </a:solidFill>
            <a:prstDash val="solid"/>
          </a:ln>
        </p:spPr>
        <p:txBody>
          <a:bodyPr/>
          <a:lstStyle/>
          <a:p>
            <a:endParaRPr lang="en-US"/>
          </a:p>
        </p:txBody>
      </p:sp>
      <p:sp>
        <p:nvSpPr>
          <p:cNvPr id="39" name="Shape 37"/>
          <p:cNvSpPr/>
          <p:nvPr/>
        </p:nvSpPr>
        <p:spPr>
          <a:xfrm>
            <a:off x="3264408" y="2724912"/>
            <a:ext cx="384048" cy="329184"/>
          </a:xfrm>
          <a:prstGeom prst="rect">
            <a:avLst/>
          </a:prstGeom>
          <a:solidFill>
            <a:srgbClr val="FF6B35">
              <a:alpha val="75000"/>
            </a:srgbClr>
          </a:solidFill>
          <a:ln w="12700">
            <a:solidFill>
              <a:srgbClr val="FF6B35"/>
            </a:solidFill>
            <a:prstDash val="solid"/>
          </a:ln>
        </p:spPr>
        <p:txBody>
          <a:bodyPr/>
          <a:lstStyle/>
          <a:p>
            <a:endParaRPr lang="en-US"/>
          </a:p>
        </p:txBody>
      </p:sp>
      <p:sp>
        <p:nvSpPr>
          <p:cNvPr id="40" name="Text 38"/>
          <p:cNvSpPr/>
          <p:nvPr/>
        </p:nvSpPr>
        <p:spPr>
          <a:xfrm>
            <a:off x="3264408" y="2724912"/>
            <a:ext cx="384048" cy="329184"/>
          </a:xfrm>
          <a:prstGeom prst="rect">
            <a:avLst/>
          </a:prstGeom>
          <a:noFill/>
          <a:ln/>
        </p:spPr>
        <p:txBody>
          <a:bodyPr wrap="square" rtlCol="0" anchor="ctr"/>
          <a:lstStyle/>
          <a:p>
            <a:pPr marL="0" indent="0" algn="ctr">
              <a:buNone/>
            </a:pPr>
            <a:r>
              <a:rPr lang="en-US" sz="900" b="1" dirty="0">
                <a:solidFill>
                  <a:srgbClr val="FFFFFF"/>
                </a:solidFill>
              </a:rPr>
              <a:t>10</a:t>
            </a:r>
            <a:endParaRPr lang="en-US" sz="900" dirty="0"/>
          </a:p>
        </p:txBody>
      </p:sp>
      <p:sp>
        <p:nvSpPr>
          <p:cNvPr id="41" name="Text 39"/>
          <p:cNvSpPr/>
          <p:nvPr/>
        </p:nvSpPr>
        <p:spPr>
          <a:xfrm>
            <a:off x="3749040" y="2670048"/>
            <a:ext cx="4114800" cy="256032"/>
          </a:xfrm>
          <a:prstGeom prst="rect">
            <a:avLst/>
          </a:prstGeom>
          <a:noFill/>
          <a:ln/>
        </p:spPr>
        <p:txBody>
          <a:bodyPr wrap="square" rtlCol="0" anchor="ctr"/>
          <a:lstStyle/>
          <a:p>
            <a:pPr marL="0" indent="0" algn="l">
              <a:buNone/>
            </a:pPr>
            <a:r>
              <a:rPr lang="en-US" sz="1100" b="1" dirty="0">
                <a:solidFill>
                  <a:srgbClr val="FFFFFF"/>
                </a:solidFill>
              </a:rPr>
              <a:t>Phase 2 — spaCy NER</a:t>
            </a:r>
            <a:endParaRPr lang="en-US" sz="1100" dirty="0"/>
          </a:p>
        </p:txBody>
      </p:sp>
      <p:sp>
        <p:nvSpPr>
          <p:cNvPr id="42" name="Text 40"/>
          <p:cNvSpPr/>
          <p:nvPr/>
        </p:nvSpPr>
        <p:spPr>
          <a:xfrm>
            <a:off x="3749040" y="2907792"/>
            <a:ext cx="4114800" cy="201168"/>
          </a:xfrm>
          <a:prstGeom prst="rect">
            <a:avLst/>
          </a:prstGeom>
          <a:noFill/>
          <a:ln/>
        </p:spPr>
        <p:txBody>
          <a:bodyPr wrap="square" rtlCol="0" anchor="ctr"/>
          <a:lstStyle/>
          <a:p>
            <a:pPr marL="0" indent="0" algn="l">
              <a:buNone/>
            </a:pPr>
            <a:r>
              <a:rPr lang="en-US" sz="850" i="1" dirty="0">
                <a:solidFill>
                  <a:srgbClr val="6090A8"/>
                </a:solidFill>
              </a:rPr>
              <a:t>Named entity recognition</a:t>
            </a:r>
            <a:endParaRPr lang="en-US" sz="850" dirty="0"/>
          </a:p>
        </p:txBody>
      </p:sp>
      <p:sp>
        <p:nvSpPr>
          <p:cNvPr id="43" name="Text 41"/>
          <p:cNvSpPr/>
          <p:nvPr/>
        </p:nvSpPr>
        <p:spPr>
          <a:xfrm>
            <a:off x="7818120" y="2779776"/>
            <a:ext cx="868680" cy="228600"/>
          </a:xfrm>
          <a:prstGeom prst="rect">
            <a:avLst/>
          </a:prstGeom>
          <a:noFill/>
          <a:ln/>
        </p:spPr>
        <p:txBody>
          <a:bodyPr wrap="square" rtlCol="0" anchor="ctr"/>
          <a:lstStyle/>
          <a:p>
            <a:pPr marL="0" indent="0" algn="r">
              <a:buNone/>
            </a:pPr>
            <a:r>
              <a:rPr lang="en-US" sz="700" dirty="0">
                <a:solidFill>
                  <a:srgbClr val="304555"/>
                </a:solidFill>
              </a:rPr>
              <a:t>· · · · · · · · · · · ·</a:t>
            </a:r>
            <a:endParaRPr lang="en-US" sz="700" dirty="0"/>
          </a:p>
        </p:txBody>
      </p:sp>
      <p:sp>
        <p:nvSpPr>
          <p:cNvPr id="44" name="Shape 42"/>
          <p:cNvSpPr/>
          <p:nvPr/>
        </p:nvSpPr>
        <p:spPr>
          <a:xfrm>
            <a:off x="3154680" y="3200400"/>
            <a:ext cx="5760720" cy="548640"/>
          </a:xfrm>
          <a:prstGeom prst="rect">
            <a:avLst/>
          </a:prstGeom>
          <a:solidFill>
            <a:srgbClr val="091828"/>
          </a:solidFill>
          <a:ln w="6350">
            <a:solidFill>
              <a:srgbClr val="1A3050"/>
            </a:solidFill>
            <a:prstDash val="solid"/>
          </a:ln>
        </p:spPr>
        <p:txBody>
          <a:bodyPr/>
          <a:lstStyle/>
          <a:p>
            <a:endParaRPr lang="en-US"/>
          </a:p>
        </p:txBody>
      </p:sp>
      <p:sp>
        <p:nvSpPr>
          <p:cNvPr id="45" name="Shape 43"/>
          <p:cNvSpPr/>
          <p:nvPr/>
        </p:nvSpPr>
        <p:spPr>
          <a:xfrm>
            <a:off x="3154680" y="3200400"/>
            <a:ext cx="54864" cy="548640"/>
          </a:xfrm>
          <a:prstGeom prst="rect">
            <a:avLst/>
          </a:prstGeom>
          <a:solidFill>
            <a:srgbClr val="6C63FF"/>
          </a:solidFill>
          <a:ln w="12700">
            <a:solidFill>
              <a:srgbClr val="6C63FF"/>
            </a:solidFill>
            <a:prstDash val="solid"/>
          </a:ln>
        </p:spPr>
        <p:txBody>
          <a:bodyPr/>
          <a:lstStyle/>
          <a:p>
            <a:endParaRPr lang="en-US"/>
          </a:p>
        </p:txBody>
      </p:sp>
      <p:sp>
        <p:nvSpPr>
          <p:cNvPr id="46" name="Shape 44"/>
          <p:cNvSpPr/>
          <p:nvPr/>
        </p:nvSpPr>
        <p:spPr>
          <a:xfrm>
            <a:off x="3264408" y="3310128"/>
            <a:ext cx="384048" cy="329184"/>
          </a:xfrm>
          <a:prstGeom prst="rect">
            <a:avLst/>
          </a:prstGeom>
          <a:solidFill>
            <a:srgbClr val="6C63FF">
              <a:alpha val="75000"/>
            </a:srgbClr>
          </a:solidFill>
          <a:ln w="12700">
            <a:solidFill>
              <a:srgbClr val="6C63FF"/>
            </a:solidFill>
            <a:prstDash val="solid"/>
          </a:ln>
        </p:spPr>
        <p:txBody>
          <a:bodyPr/>
          <a:lstStyle/>
          <a:p>
            <a:endParaRPr lang="en-US"/>
          </a:p>
        </p:txBody>
      </p:sp>
      <p:sp>
        <p:nvSpPr>
          <p:cNvPr id="47" name="Text 45"/>
          <p:cNvSpPr/>
          <p:nvPr/>
        </p:nvSpPr>
        <p:spPr>
          <a:xfrm>
            <a:off x="3264408" y="3310128"/>
            <a:ext cx="384048" cy="329184"/>
          </a:xfrm>
          <a:prstGeom prst="rect">
            <a:avLst/>
          </a:prstGeom>
          <a:noFill/>
          <a:ln/>
        </p:spPr>
        <p:txBody>
          <a:bodyPr wrap="square" rtlCol="0" anchor="ctr"/>
          <a:lstStyle/>
          <a:p>
            <a:pPr marL="0" indent="0" algn="ctr">
              <a:buNone/>
            </a:pPr>
            <a:r>
              <a:rPr lang="en-US" sz="900" b="1" dirty="0">
                <a:solidFill>
                  <a:srgbClr val="FFFFFF"/>
                </a:solidFill>
              </a:rPr>
              <a:t>11</a:t>
            </a:r>
            <a:endParaRPr lang="en-US" sz="900" dirty="0"/>
          </a:p>
        </p:txBody>
      </p:sp>
      <p:sp>
        <p:nvSpPr>
          <p:cNvPr id="48" name="Text 46"/>
          <p:cNvSpPr/>
          <p:nvPr/>
        </p:nvSpPr>
        <p:spPr>
          <a:xfrm>
            <a:off x="3749040" y="3255264"/>
            <a:ext cx="4114800" cy="256032"/>
          </a:xfrm>
          <a:prstGeom prst="rect">
            <a:avLst/>
          </a:prstGeom>
          <a:noFill/>
          <a:ln/>
        </p:spPr>
        <p:txBody>
          <a:bodyPr wrap="square" rtlCol="0" anchor="ctr"/>
          <a:lstStyle/>
          <a:p>
            <a:pPr marL="0" indent="0" algn="l">
              <a:buNone/>
            </a:pPr>
            <a:r>
              <a:rPr lang="en-US" sz="1100" b="1" dirty="0">
                <a:solidFill>
                  <a:srgbClr val="FFFFFF"/>
                </a:solidFill>
              </a:rPr>
              <a:t>Phase 3 — Word2Vec</a:t>
            </a:r>
            <a:endParaRPr lang="en-US" sz="1100" dirty="0"/>
          </a:p>
        </p:txBody>
      </p:sp>
      <p:sp>
        <p:nvSpPr>
          <p:cNvPr id="49" name="Text 47"/>
          <p:cNvSpPr/>
          <p:nvPr/>
        </p:nvSpPr>
        <p:spPr>
          <a:xfrm>
            <a:off x="3749040" y="3493008"/>
            <a:ext cx="4114800" cy="201168"/>
          </a:xfrm>
          <a:prstGeom prst="rect">
            <a:avLst/>
          </a:prstGeom>
          <a:noFill/>
          <a:ln/>
        </p:spPr>
        <p:txBody>
          <a:bodyPr wrap="square" rtlCol="0" anchor="ctr"/>
          <a:lstStyle/>
          <a:p>
            <a:pPr marL="0" indent="0" algn="l">
              <a:buNone/>
            </a:pPr>
            <a:r>
              <a:rPr lang="en-US" sz="850" i="1" dirty="0">
                <a:solidFill>
                  <a:srgbClr val="6090A8"/>
                </a:solidFill>
              </a:rPr>
              <a:t>Semantic embeddings (slides 11–12)</a:t>
            </a:r>
            <a:endParaRPr lang="en-US" sz="850" dirty="0"/>
          </a:p>
        </p:txBody>
      </p:sp>
      <p:sp>
        <p:nvSpPr>
          <p:cNvPr id="50" name="Text 48"/>
          <p:cNvSpPr/>
          <p:nvPr/>
        </p:nvSpPr>
        <p:spPr>
          <a:xfrm>
            <a:off x="7818120" y="3364992"/>
            <a:ext cx="868680" cy="228600"/>
          </a:xfrm>
          <a:prstGeom prst="rect">
            <a:avLst/>
          </a:prstGeom>
          <a:noFill/>
          <a:ln/>
        </p:spPr>
        <p:txBody>
          <a:bodyPr wrap="square" rtlCol="0" anchor="ctr"/>
          <a:lstStyle/>
          <a:p>
            <a:pPr marL="0" indent="0" algn="r">
              <a:buNone/>
            </a:pPr>
            <a:r>
              <a:rPr lang="en-US" sz="700" dirty="0">
                <a:solidFill>
                  <a:srgbClr val="304555"/>
                </a:solidFill>
              </a:rPr>
              <a:t>· · · · · · · · · · · ·</a:t>
            </a:r>
            <a:endParaRPr lang="en-US" sz="700" dirty="0"/>
          </a:p>
        </p:txBody>
      </p:sp>
      <p:sp>
        <p:nvSpPr>
          <p:cNvPr id="51" name="Shape 49"/>
          <p:cNvSpPr/>
          <p:nvPr/>
        </p:nvSpPr>
        <p:spPr>
          <a:xfrm>
            <a:off x="3154680" y="3785616"/>
            <a:ext cx="5760720" cy="548640"/>
          </a:xfrm>
          <a:prstGeom prst="rect">
            <a:avLst/>
          </a:prstGeom>
          <a:solidFill>
            <a:srgbClr val="0D2035"/>
          </a:solidFill>
          <a:ln w="6350">
            <a:solidFill>
              <a:srgbClr val="1A3050"/>
            </a:solidFill>
            <a:prstDash val="solid"/>
          </a:ln>
        </p:spPr>
        <p:txBody>
          <a:bodyPr/>
          <a:lstStyle/>
          <a:p>
            <a:endParaRPr lang="en-US"/>
          </a:p>
        </p:txBody>
      </p:sp>
      <p:sp>
        <p:nvSpPr>
          <p:cNvPr id="52" name="Shape 50"/>
          <p:cNvSpPr/>
          <p:nvPr/>
        </p:nvSpPr>
        <p:spPr>
          <a:xfrm>
            <a:off x="3154680" y="3785616"/>
            <a:ext cx="54864" cy="548640"/>
          </a:xfrm>
          <a:prstGeom prst="rect">
            <a:avLst/>
          </a:prstGeom>
          <a:solidFill>
            <a:srgbClr val="EF4444"/>
          </a:solidFill>
          <a:ln w="12700">
            <a:solidFill>
              <a:srgbClr val="EF4444"/>
            </a:solidFill>
            <a:prstDash val="solid"/>
          </a:ln>
        </p:spPr>
        <p:txBody>
          <a:bodyPr/>
          <a:lstStyle/>
          <a:p>
            <a:endParaRPr lang="en-US"/>
          </a:p>
        </p:txBody>
      </p:sp>
      <p:sp>
        <p:nvSpPr>
          <p:cNvPr id="53" name="Shape 51"/>
          <p:cNvSpPr/>
          <p:nvPr/>
        </p:nvSpPr>
        <p:spPr>
          <a:xfrm>
            <a:off x="3264408" y="3895344"/>
            <a:ext cx="384048" cy="329184"/>
          </a:xfrm>
          <a:prstGeom prst="rect">
            <a:avLst/>
          </a:prstGeom>
          <a:solidFill>
            <a:srgbClr val="EF4444">
              <a:alpha val="75000"/>
            </a:srgbClr>
          </a:solidFill>
          <a:ln w="12700">
            <a:solidFill>
              <a:srgbClr val="EF4444"/>
            </a:solidFill>
            <a:prstDash val="solid"/>
          </a:ln>
        </p:spPr>
        <p:txBody>
          <a:bodyPr/>
          <a:lstStyle/>
          <a:p>
            <a:endParaRPr lang="en-US"/>
          </a:p>
        </p:txBody>
      </p:sp>
      <p:sp>
        <p:nvSpPr>
          <p:cNvPr id="54" name="Text 52"/>
          <p:cNvSpPr/>
          <p:nvPr/>
        </p:nvSpPr>
        <p:spPr>
          <a:xfrm>
            <a:off x="3264408" y="3895344"/>
            <a:ext cx="384048" cy="329184"/>
          </a:xfrm>
          <a:prstGeom prst="rect">
            <a:avLst/>
          </a:prstGeom>
          <a:noFill/>
          <a:ln/>
        </p:spPr>
        <p:txBody>
          <a:bodyPr wrap="square" rtlCol="0" anchor="ctr"/>
          <a:lstStyle/>
          <a:p>
            <a:pPr marL="0" indent="0" algn="ctr">
              <a:buNone/>
            </a:pPr>
            <a:r>
              <a:rPr lang="en-US" sz="900" b="1" dirty="0">
                <a:solidFill>
                  <a:srgbClr val="FFFFFF"/>
                </a:solidFill>
              </a:rPr>
              <a:t>13</a:t>
            </a:r>
            <a:endParaRPr lang="en-US" sz="900" dirty="0"/>
          </a:p>
        </p:txBody>
      </p:sp>
      <p:sp>
        <p:nvSpPr>
          <p:cNvPr id="55" name="Text 53"/>
          <p:cNvSpPr/>
          <p:nvPr/>
        </p:nvSpPr>
        <p:spPr>
          <a:xfrm>
            <a:off x="3749040" y="3840480"/>
            <a:ext cx="4114800" cy="256032"/>
          </a:xfrm>
          <a:prstGeom prst="rect">
            <a:avLst/>
          </a:prstGeom>
          <a:noFill/>
          <a:ln/>
        </p:spPr>
        <p:txBody>
          <a:bodyPr wrap="square" rtlCol="0" anchor="ctr"/>
          <a:lstStyle/>
          <a:p>
            <a:pPr marL="0" indent="0" algn="l">
              <a:buNone/>
            </a:pPr>
            <a:r>
              <a:rPr lang="en-US" sz="1100" b="1" dirty="0">
                <a:solidFill>
                  <a:srgbClr val="FFFFFF"/>
                </a:solidFill>
              </a:rPr>
              <a:t>Phase 4–5 — Modelling</a:t>
            </a:r>
            <a:endParaRPr lang="en-US" sz="1100" dirty="0"/>
          </a:p>
        </p:txBody>
      </p:sp>
      <p:sp>
        <p:nvSpPr>
          <p:cNvPr id="56" name="Text 54"/>
          <p:cNvSpPr/>
          <p:nvPr/>
        </p:nvSpPr>
        <p:spPr>
          <a:xfrm>
            <a:off x="3749040" y="4078224"/>
            <a:ext cx="4114800" cy="201168"/>
          </a:xfrm>
          <a:prstGeom prst="rect">
            <a:avLst/>
          </a:prstGeom>
          <a:noFill/>
          <a:ln/>
        </p:spPr>
        <p:txBody>
          <a:bodyPr wrap="square" rtlCol="0" anchor="ctr"/>
          <a:lstStyle/>
          <a:p>
            <a:pPr marL="0" indent="0" algn="l">
              <a:buNone/>
            </a:pPr>
            <a:r>
              <a:rPr lang="en-US" sz="850" i="1" dirty="0">
                <a:solidFill>
                  <a:srgbClr val="6090A8"/>
                </a:solidFill>
              </a:rPr>
              <a:t>Training, eval &amp; results (13–15)</a:t>
            </a:r>
            <a:endParaRPr lang="en-US" sz="850" dirty="0"/>
          </a:p>
        </p:txBody>
      </p:sp>
      <p:sp>
        <p:nvSpPr>
          <p:cNvPr id="57" name="Text 55"/>
          <p:cNvSpPr/>
          <p:nvPr/>
        </p:nvSpPr>
        <p:spPr>
          <a:xfrm>
            <a:off x="7818120" y="3950208"/>
            <a:ext cx="868680" cy="228600"/>
          </a:xfrm>
          <a:prstGeom prst="rect">
            <a:avLst/>
          </a:prstGeom>
          <a:noFill/>
          <a:ln/>
        </p:spPr>
        <p:txBody>
          <a:bodyPr wrap="square" rtlCol="0" anchor="ctr"/>
          <a:lstStyle/>
          <a:p>
            <a:pPr marL="0" indent="0" algn="r">
              <a:buNone/>
            </a:pPr>
            <a:r>
              <a:rPr lang="en-US" sz="700" dirty="0">
                <a:solidFill>
                  <a:srgbClr val="304555"/>
                </a:solidFill>
              </a:rPr>
              <a:t>· · · · · · · · · · · ·</a:t>
            </a:r>
            <a:endParaRPr lang="en-US" sz="700" dirty="0"/>
          </a:p>
        </p:txBody>
      </p:sp>
      <p:sp>
        <p:nvSpPr>
          <p:cNvPr id="58" name="Shape 56"/>
          <p:cNvSpPr/>
          <p:nvPr/>
        </p:nvSpPr>
        <p:spPr>
          <a:xfrm>
            <a:off x="3154680" y="4370832"/>
            <a:ext cx="5760720" cy="548640"/>
          </a:xfrm>
          <a:prstGeom prst="rect">
            <a:avLst/>
          </a:prstGeom>
          <a:solidFill>
            <a:srgbClr val="091828"/>
          </a:solidFill>
          <a:ln w="6350">
            <a:solidFill>
              <a:srgbClr val="1A3050"/>
            </a:solidFill>
            <a:prstDash val="solid"/>
          </a:ln>
        </p:spPr>
        <p:txBody>
          <a:bodyPr/>
          <a:lstStyle/>
          <a:p>
            <a:endParaRPr lang="en-US"/>
          </a:p>
        </p:txBody>
      </p:sp>
      <p:sp>
        <p:nvSpPr>
          <p:cNvPr id="59" name="Shape 57"/>
          <p:cNvSpPr/>
          <p:nvPr/>
        </p:nvSpPr>
        <p:spPr>
          <a:xfrm>
            <a:off x="3154680" y="4370832"/>
            <a:ext cx="54864" cy="548640"/>
          </a:xfrm>
          <a:prstGeom prst="rect">
            <a:avLst/>
          </a:prstGeom>
          <a:solidFill>
            <a:srgbClr val="00B4A6"/>
          </a:solidFill>
          <a:ln w="12700">
            <a:solidFill>
              <a:srgbClr val="00B4A6"/>
            </a:solidFill>
            <a:prstDash val="solid"/>
          </a:ln>
        </p:spPr>
        <p:txBody>
          <a:bodyPr/>
          <a:lstStyle/>
          <a:p>
            <a:endParaRPr lang="en-US"/>
          </a:p>
        </p:txBody>
      </p:sp>
      <p:sp>
        <p:nvSpPr>
          <p:cNvPr id="60" name="Shape 58"/>
          <p:cNvSpPr/>
          <p:nvPr/>
        </p:nvSpPr>
        <p:spPr>
          <a:xfrm>
            <a:off x="3264408" y="4480560"/>
            <a:ext cx="384048" cy="329184"/>
          </a:xfrm>
          <a:prstGeom prst="rect">
            <a:avLst/>
          </a:prstGeom>
          <a:solidFill>
            <a:srgbClr val="00B4A6">
              <a:alpha val="75000"/>
            </a:srgbClr>
          </a:solidFill>
          <a:ln w="12700">
            <a:solidFill>
              <a:srgbClr val="00B4A6"/>
            </a:solidFill>
            <a:prstDash val="solid"/>
          </a:ln>
        </p:spPr>
        <p:txBody>
          <a:bodyPr/>
          <a:lstStyle/>
          <a:p>
            <a:endParaRPr lang="en-US"/>
          </a:p>
        </p:txBody>
      </p:sp>
      <p:sp>
        <p:nvSpPr>
          <p:cNvPr id="61" name="Text 59"/>
          <p:cNvSpPr/>
          <p:nvPr/>
        </p:nvSpPr>
        <p:spPr>
          <a:xfrm>
            <a:off x="3264408" y="4480560"/>
            <a:ext cx="384048" cy="329184"/>
          </a:xfrm>
          <a:prstGeom prst="rect">
            <a:avLst/>
          </a:prstGeom>
          <a:noFill/>
          <a:ln/>
        </p:spPr>
        <p:txBody>
          <a:bodyPr wrap="square" rtlCol="0" anchor="ctr"/>
          <a:lstStyle/>
          <a:p>
            <a:pPr marL="0" indent="0" algn="ctr">
              <a:buNone/>
            </a:pPr>
            <a:r>
              <a:rPr lang="en-US" sz="900" b="1" dirty="0">
                <a:solidFill>
                  <a:srgbClr val="FFFFFF"/>
                </a:solidFill>
              </a:rPr>
              <a:t>17</a:t>
            </a:r>
            <a:endParaRPr lang="en-US" sz="900" dirty="0"/>
          </a:p>
        </p:txBody>
      </p:sp>
      <p:sp>
        <p:nvSpPr>
          <p:cNvPr id="62" name="Text 60"/>
          <p:cNvSpPr/>
          <p:nvPr/>
        </p:nvSpPr>
        <p:spPr>
          <a:xfrm>
            <a:off x="3749040" y="4425696"/>
            <a:ext cx="4114800" cy="256032"/>
          </a:xfrm>
          <a:prstGeom prst="rect">
            <a:avLst/>
          </a:prstGeom>
          <a:noFill/>
          <a:ln/>
        </p:spPr>
        <p:txBody>
          <a:bodyPr wrap="square" rtlCol="0" anchor="ctr"/>
          <a:lstStyle/>
          <a:p>
            <a:pPr marL="0" indent="0" algn="l">
              <a:buNone/>
            </a:pPr>
            <a:r>
              <a:rPr lang="en-US" sz="1100" b="1" dirty="0">
                <a:solidFill>
                  <a:srgbClr val="FFFFFF"/>
                </a:solidFill>
              </a:rPr>
              <a:t>Deployment &amp; Conclusion</a:t>
            </a:r>
            <a:endParaRPr lang="en-US" sz="1100" dirty="0"/>
          </a:p>
        </p:txBody>
      </p:sp>
      <p:sp>
        <p:nvSpPr>
          <p:cNvPr id="63" name="Text 61"/>
          <p:cNvSpPr/>
          <p:nvPr/>
        </p:nvSpPr>
        <p:spPr>
          <a:xfrm>
            <a:off x="3749040" y="4663440"/>
            <a:ext cx="4114800" cy="201168"/>
          </a:xfrm>
          <a:prstGeom prst="rect">
            <a:avLst/>
          </a:prstGeom>
          <a:noFill/>
          <a:ln/>
        </p:spPr>
        <p:txBody>
          <a:bodyPr wrap="square" rtlCol="0" anchor="ctr"/>
          <a:lstStyle/>
          <a:p>
            <a:pPr marL="0" indent="0" algn="l">
              <a:buNone/>
            </a:pPr>
            <a:r>
              <a:rPr lang="en-US" sz="850" i="1" dirty="0">
                <a:solidFill>
                  <a:srgbClr val="6090A8"/>
                </a:solidFill>
              </a:rPr>
              <a:t>Web app, next steps &amp; wrap-up</a:t>
            </a:r>
            <a:endParaRPr lang="en-US" sz="850" dirty="0"/>
          </a:p>
        </p:txBody>
      </p:sp>
      <p:sp>
        <p:nvSpPr>
          <p:cNvPr id="64" name="Text 62"/>
          <p:cNvSpPr/>
          <p:nvPr/>
        </p:nvSpPr>
        <p:spPr>
          <a:xfrm>
            <a:off x="7818120" y="4535424"/>
            <a:ext cx="868680" cy="228600"/>
          </a:xfrm>
          <a:prstGeom prst="rect">
            <a:avLst/>
          </a:prstGeom>
          <a:noFill/>
          <a:ln/>
        </p:spPr>
        <p:txBody>
          <a:bodyPr wrap="square" rtlCol="0" anchor="ctr"/>
          <a:lstStyle/>
          <a:p>
            <a:pPr marL="0" indent="0" algn="r">
              <a:buNone/>
            </a:pPr>
            <a:r>
              <a:rPr lang="en-US" sz="700" dirty="0">
                <a:solidFill>
                  <a:srgbClr val="304555"/>
                </a:solidFill>
              </a:rPr>
              <a:t>· · · · · · · · · · · ·</a:t>
            </a:r>
            <a:endParaRPr lang="en-US" sz="700" dirty="0"/>
          </a:p>
        </p:txBody>
      </p:sp>
      <p:sp>
        <p:nvSpPr>
          <p:cNvPr id="65" name="Shape 63"/>
          <p:cNvSpPr/>
          <p:nvPr/>
        </p:nvSpPr>
        <p:spPr>
          <a:xfrm>
            <a:off x="0" y="4809744"/>
            <a:ext cx="9144000" cy="333756"/>
          </a:xfrm>
          <a:prstGeom prst="rect">
            <a:avLst/>
          </a:prstGeom>
          <a:solidFill>
            <a:srgbClr val="060E1A"/>
          </a:solidFill>
          <a:ln w="12700">
            <a:solidFill>
              <a:srgbClr val="060E1A"/>
            </a:solidFill>
            <a:prstDash val="solid"/>
          </a:ln>
        </p:spPr>
        <p:txBody>
          <a:bodyPr/>
          <a:lstStyle/>
          <a:p>
            <a:endParaRPr lang="en-US"/>
          </a:p>
        </p:txBody>
      </p:sp>
      <p:sp>
        <p:nvSpPr>
          <p:cNvPr id="66" name="Text 64"/>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406070"/>
                </a:solidFill>
              </a:rPr>
              <a:t>2 / 18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8631936" cy="640080"/>
          </a:xfrm>
          <a:prstGeom prst="rect">
            <a:avLst/>
          </a:prstGeom>
          <a:solidFill>
            <a:srgbClr val="00B4A6"/>
          </a:solidFill>
          <a:ln w="12700">
            <a:solidFill>
              <a:srgbClr val="00B4A6"/>
            </a:solidFill>
            <a:prstDash val="solid"/>
          </a:ln>
        </p:spPr>
        <p:txBody>
          <a:bodyPr/>
          <a:lstStyle/>
          <a:p>
            <a:endParaRPr lang="en-US"/>
          </a:p>
        </p:txBody>
      </p:sp>
      <p:sp>
        <p:nvSpPr>
          <p:cNvPr id="4" name="Text 2"/>
          <p:cNvSpPr/>
          <p:nvPr/>
        </p:nvSpPr>
        <p:spPr>
          <a:xfrm>
            <a:off x="256032" y="182880"/>
            <a:ext cx="8631936" cy="640080"/>
          </a:xfrm>
          <a:prstGeom prst="rect">
            <a:avLst/>
          </a:prstGeom>
          <a:noFill/>
          <a:ln/>
        </p:spPr>
        <p:txBody>
          <a:bodyPr wrap="square" lIns="0" tIns="203200" rIns="0" bIns="0" rtlCol="0" anchor="ctr"/>
          <a:lstStyle/>
          <a:p>
            <a:pPr marL="0" indent="0" algn="l">
              <a:buNone/>
            </a:pPr>
            <a:r>
              <a:rPr lang="en-US" sz="1800" b="1" dirty="0">
                <a:solidFill>
                  <a:srgbClr val="FFFFFF"/>
                </a:solidFill>
              </a:rPr>
              <a:t>The Challenge</a:t>
            </a:r>
            <a:endParaRPr lang="en-US" sz="1800" dirty="0"/>
          </a:p>
        </p:txBody>
      </p:sp>
      <p:sp>
        <p:nvSpPr>
          <p:cNvPr id="5" name="Text 3"/>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3 / 18</a:t>
            </a:r>
            <a:endParaRPr lang="en-US" sz="800" dirty="0"/>
          </a:p>
        </p:txBody>
      </p:sp>
      <p:sp>
        <p:nvSpPr>
          <p:cNvPr id="6" name="Shape 4"/>
          <p:cNvSpPr/>
          <p:nvPr/>
        </p:nvSpPr>
        <p:spPr>
          <a:xfrm>
            <a:off x="365760" y="1051560"/>
            <a:ext cx="2651760" cy="265176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7" name="Shape 5"/>
          <p:cNvSpPr/>
          <p:nvPr/>
        </p:nvSpPr>
        <p:spPr>
          <a:xfrm>
            <a:off x="365760" y="1051560"/>
            <a:ext cx="2651760" cy="73152"/>
          </a:xfrm>
          <a:prstGeom prst="rect">
            <a:avLst/>
          </a:prstGeom>
          <a:solidFill>
            <a:srgbClr val="00B4A6"/>
          </a:solidFill>
          <a:ln w="12700">
            <a:solidFill>
              <a:srgbClr val="00B4A6"/>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371600" y="1325880"/>
            <a:ext cx="640080" cy="640080"/>
          </a:xfrm>
          <a:prstGeom prst="rect">
            <a:avLst/>
          </a:prstGeom>
        </p:spPr>
      </p:pic>
      <p:sp>
        <p:nvSpPr>
          <p:cNvPr id="9" name="Text 6"/>
          <p:cNvSpPr/>
          <p:nvPr/>
        </p:nvSpPr>
        <p:spPr>
          <a:xfrm>
            <a:off x="457200" y="2057400"/>
            <a:ext cx="2468880" cy="640080"/>
          </a:xfrm>
          <a:prstGeom prst="rect">
            <a:avLst/>
          </a:prstGeom>
          <a:noFill/>
          <a:ln/>
        </p:spPr>
        <p:txBody>
          <a:bodyPr wrap="square" rtlCol="0" anchor="ctr"/>
          <a:lstStyle/>
          <a:p>
            <a:pPr marL="0" indent="0" algn="ctr">
              <a:buNone/>
            </a:pPr>
            <a:r>
              <a:rPr lang="en-US" sz="2800" b="1" dirty="0">
                <a:solidFill>
                  <a:srgbClr val="0A1628"/>
                </a:solidFill>
              </a:rPr>
              <a:t>500K+</a:t>
            </a:r>
            <a:endParaRPr lang="en-US" sz="2800" dirty="0"/>
          </a:p>
        </p:txBody>
      </p:sp>
      <p:sp>
        <p:nvSpPr>
          <p:cNvPr id="10" name="Text 7"/>
          <p:cNvSpPr/>
          <p:nvPr/>
        </p:nvSpPr>
        <p:spPr>
          <a:xfrm>
            <a:off x="457200" y="2651760"/>
            <a:ext cx="2468880" cy="731520"/>
          </a:xfrm>
          <a:prstGeom prst="rect">
            <a:avLst/>
          </a:prstGeom>
          <a:noFill/>
          <a:ln/>
        </p:spPr>
        <p:txBody>
          <a:bodyPr wrap="square" rtlCol="0" anchor="t"/>
          <a:lstStyle/>
          <a:p>
            <a:pPr marL="0" indent="0" algn="ctr">
              <a:buNone/>
            </a:pPr>
            <a:r>
              <a:rPr lang="en-US" sz="1100" dirty="0">
                <a:solidFill>
                  <a:srgbClr val="64748B"/>
                </a:solidFill>
              </a:rPr>
              <a:t>COVID papers published</a:t>
            </a:r>
            <a:endParaRPr lang="en-US" sz="1100" dirty="0"/>
          </a:p>
        </p:txBody>
      </p:sp>
      <p:sp>
        <p:nvSpPr>
          <p:cNvPr id="11" name="Shape 8"/>
          <p:cNvSpPr/>
          <p:nvPr/>
        </p:nvSpPr>
        <p:spPr>
          <a:xfrm>
            <a:off x="3291840" y="1051560"/>
            <a:ext cx="2651760" cy="265176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12" name="Shape 9"/>
          <p:cNvSpPr/>
          <p:nvPr/>
        </p:nvSpPr>
        <p:spPr>
          <a:xfrm>
            <a:off x="3291840" y="1051560"/>
            <a:ext cx="2651760" cy="73152"/>
          </a:xfrm>
          <a:prstGeom prst="rect">
            <a:avLst/>
          </a:prstGeom>
          <a:solidFill>
            <a:srgbClr val="FF6B35"/>
          </a:solidFill>
          <a:ln w="12700">
            <a:solidFill>
              <a:srgbClr val="FF6B35"/>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297680" y="1325880"/>
            <a:ext cx="640080" cy="640080"/>
          </a:xfrm>
          <a:prstGeom prst="rect">
            <a:avLst/>
          </a:prstGeom>
        </p:spPr>
      </p:pic>
      <p:sp>
        <p:nvSpPr>
          <p:cNvPr id="14" name="Text 10"/>
          <p:cNvSpPr/>
          <p:nvPr/>
        </p:nvSpPr>
        <p:spPr>
          <a:xfrm>
            <a:off x="3383280" y="2057400"/>
            <a:ext cx="2468880" cy="640080"/>
          </a:xfrm>
          <a:prstGeom prst="rect">
            <a:avLst/>
          </a:prstGeom>
          <a:noFill/>
          <a:ln/>
        </p:spPr>
        <p:txBody>
          <a:bodyPr wrap="square" rtlCol="0" anchor="ctr"/>
          <a:lstStyle/>
          <a:p>
            <a:pPr marL="0" indent="0" algn="ctr">
              <a:buNone/>
            </a:pPr>
            <a:r>
              <a:rPr lang="en-US" sz="2800" b="1" dirty="0">
                <a:solidFill>
                  <a:srgbClr val="0A1628"/>
                </a:solidFill>
              </a:rPr>
              <a:t>72 hrs</a:t>
            </a:r>
            <a:endParaRPr lang="en-US" sz="2800" dirty="0"/>
          </a:p>
        </p:txBody>
      </p:sp>
      <p:sp>
        <p:nvSpPr>
          <p:cNvPr id="15" name="Text 11"/>
          <p:cNvSpPr/>
          <p:nvPr/>
        </p:nvSpPr>
        <p:spPr>
          <a:xfrm>
            <a:off x="3383280" y="2651760"/>
            <a:ext cx="2468880" cy="731520"/>
          </a:xfrm>
          <a:prstGeom prst="rect">
            <a:avLst/>
          </a:prstGeom>
          <a:noFill/>
          <a:ln/>
        </p:spPr>
        <p:txBody>
          <a:bodyPr wrap="square" rtlCol="0" anchor="t"/>
          <a:lstStyle/>
          <a:p>
            <a:pPr marL="0" indent="0" algn="ctr">
              <a:buNone/>
            </a:pPr>
            <a:r>
              <a:rPr lang="en-US" sz="1100" dirty="0">
                <a:solidFill>
                  <a:srgbClr val="64748B"/>
                </a:solidFill>
              </a:rPr>
              <a:t>New papers every day</a:t>
            </a:r>
            <a:endParaRPr lang="en-US" sz="1100" dirty="0"/>
          </a:p>
        </p:txBody>
      </p:sp>
      <p:sp>
        <p:nvSpPr>
          <p:cNvPr id="16" name="Shape 12"/>
          <p:cNvSpPr/>
          <p:nvPr/>
        </p:nvSpPr>
        <p:spPr>
          <a:xfrm>
            <a:off x="6217920" y="1051560"/>
            <a:ext cx="2651760" cy="2651760"/>
          </a:xfrm>
          <a:prstGeom prst="rect">
            <a:avLst/>
          </a:prstGeom>
          <a:solidFill>
            <a:srgbClr val="FFFFFF"/>
          </a:solidFill>
          <a:ln w="12700">
            <a:solidFill>
              <a:srgbClr val="CBD5E1"/>
            </a:solidFill>
            <a:prstDash val="solid"/>
          </a:ln>
          <a:effectLst>
            <a:outerShdw blurRad="101600" dist="25400" dir="8100000" algn="bl" rotWithShape="0">
              <a:srgbClr val="000000">
                <a:alpha val="10000"/>
              </a:srgbClr>
            </a:outerShdw>
          </a:effectLst>
        </p:spPr>
        <p:txBody>
          <a:bodyPr/>
          <a:lstStyle/>
          <a:p>
            <a:endParaRPr lang="en-US"/>
          </a:p>
        </p:txBody>
      </p:sp>
      <p:sp>
        <p:nvSpPr>
          <p:cNvPr id="17" name="Shape 13"/>
          <p:cNvSpPr/>
          <p:nvPr/>
        </p:nvSpPr>
        <p:spPr>
          <a:xfrm>
            <a:off x="6217920" y="1051560"/>
            <a:ext cx="2651760" cy="73152"/>
          </a:xfrm>
          <a:prstGeom prst="rect">
            <a:avLst/>
          </a:prstGeom>
          <a:solidFill>
            <a:srgbClr val="6C63FF"/>
          </a:solidFill>
          <a:ln w="12700">
            <a:solidFill>
              <a:srgbClr val="6C63FF"/>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7223760" y="1325880"/>
            <a:ext cx="640080" cy="640080"/>
          </a:xfrm>
          <a:prstGeom prst="rect">
            <a:avLst/>
          </a:prstGeom>
        </p:spPr>
      </p:pic>
      <p:sp>
        <p:nvSpPr>
          <p:cNvPr id="19" name="Text 14"/>
          <p:cNvSpPr/>
          <p:nvPr/>
        </p:nvSpPr>
        <p:spPr>
          <a:xfrm>
            <a:off x="6309360" y="2057400"/>
            <a:ext cx="2468880" cy="640080"/>
          </a:xfrm>
          <a:prstGeom prst="rect">
            <a:avLst/>
          </a:prstGeom>
          <a:noFill/>
          <a:ln/>
        </p:spPr>
        <p:txBody>
          <a:bodyPr wrap="square" rtlCol="0" anchor="ctr"/>
          <a:lstStyle/>
          <a:p>
            <a:pPr marL="0" indent="0" algn="ctr">
              <a:buNone/>
            </a:pPr>
            <a:r>
              <a:rPr lang="en-US" sz="2800" b="1" dirty="0">
                <a:solidFill>
                  <a:srgbClr val="0A1628"/>
                </a:solidFill>
              </a:rPr>
              <a:t>&lt; 1%</a:t>
            </a:r>
            <a:endParaRPr lang="en-US" sz="2800" dirty="0"/>
          </a:p>
        </p:txBody>
      </p:sp>
      <p:sp>
        <p:nvSpPr>
          <p:cNvPr id="20" name="Text 15"/>
          <p:cNvSpPr/>
          <p:nvPr/>
        </p:nvSpPr>
        <p:spPr>
          <a:xfrm>
            <a:off x="6309360" y="2651760"/>
            <a:ext cx="2468880" cy="731520"/>
          </a:xfrm>
          <a:prstGeom prst="rect">
            <a:avLst/>
          </a:prstGeom>
          <a:noFill/>
          <a:ln/>
        </p:spPr>
        <p:txBody>
          <a:bodyPr wrap="square" rtlCol="0" anchor="t"/>
          <a:lstStyle/>
          <a:p>
            <a:pPr marL="0" indent="0" algn="ctr">
              <a:buNone/>
            </a:pPr>
            <a:r>
              <a:rPr lang="en-US" sz="1100" dirty="0">
                <a:solidFill>
                  <a:srgbClr val="64748B"/>
                </a:solidFill>
              </a:rPr>
              <a:t>Manually reviewed</a:t>
            </a:r>
            <a:endParaRPr lang="en-US" sz="1100" dirty="0"/>
          </a:p>
        </p:txBody>
      </p:sp>
      <p:sp>
        <p:nvSpPr>
          <p:cNvPr id="21" name="Text 16"/>
          <p:cNvSpPr/>
          <p:nvPr/>
        </p:nvSpPr>
        <p:spPr>
          <a:xfrm>
            <a:off x="274320" y="3977640"/>
            <a:ext cx="8595360" cy="457200"/>
          </a:xfrm>
          <a:prstGeom prst="rect">
            <a:avLst/>
          </a:prstGeom>
          <a:noFill/>
          <a:ln/>
        </p:spPr>
        <p:txBody>
          <a:bodyPr wrap="square" rtlCol="0" anchor="ctr"/>
          <a:lstStyle/>
          <a:p>
            <a:pPr marL="0" indent="0" algn="ctr">
              <a:buNone/>
            </a:pPr>
            <a:r>
              <a:rPr lang="en-US" sz="1300" b="1" i="1" dirty="0">
                <a:solidFill>
                  <a:srgbClr val="00B4A6"/>
                </a:solidFill>
              </a:rPr>
              <a:t>Manual review is impossible at pandemic scale.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8631936" cy="640080"/>
          </a:xfrm>
          <a:prstGeom prst="rect">
            <a:avLst/>
          </a:prstGeom>
          <a:solidFill>
            <a:srgbClr val="00B4A6"/>
          </a:solidFill>
          <a:ln w="12700">
            <a:solidFill>
              <a:srgbClr val="00B4A6"/>
            </a:solidFill>
            <a:prstDash val="solid"/>
          </a:ln>
        </p:spPr>
        <p:txBody>
          <a:bodyPr/>
          <a:lstStyle/>
          <a:p>
            <a:endParaRPr lang="en-US"/>
          </a:p>
        </p:txBody>
      </p:sp>
      <p:sp>
        <p:nvSpPr>
          <p:cNvPr id="4" name="Text 2"/>
          <p:cNvSpPr/>
          <p:nvPr/>
        </p:nvSpPr>
        <p:spPr>
          <a:xfrm>
            <a:off x="256032" y="182880"/>
            <a:ext cx="8631936" cy="640080"/>
          </a:xfrm>
          <a:prstGeom prst="rect">
            <a:avLst/>
          </a:prstGeom>
          <a:noFill/>
          <a:ln/>
        </p:spPr>
        <p:txBody>
          <a:bodyPr wrap="square" lIns="0" tIns="203200" rIns="0" bIns="0" rtlCol="0" anchor="ctr"/>
          <a:lstStyle/>
          <a:p>
            <a:pPr marL="0" indent="0" algn="l">
              <a:buNone/>
            </a:pPr>
            <a:r>
              <a:rPr lang="en-US" sz="1800" b="1" dirty="0">
                <a:solidFill>
                  <a:srgbClr val="FFFFFF"/>
                </a:solidFill>
              </a:rPr>
              <a:t>The Big Picture: NLP Pipeline</a:t>
            </a:r>
            <a:endParaRPr lang="en-US" sz="1800" dirty="0"/>
          </a:p>
        </p:txBody>
      </p:sp>
      <p:sp>
        <p:nvSpPr>
          <p:cNvPr id="5" name="Text 3"/>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4 / 18</a:t>
            </a:r>
            <a:endParaRPr lang="en-US" sz="800" dirty="0"/>
          </a:p>
        </p:txBody>
      </p:sp>
      <p:sp>
        <p:nvSpPr>
          <p:cNvPr id="6" name="Shape 4"/>
          <p:cNvSpPr/>
          <p:nvPr/>
        </p:nvSpPr>
        <p:spPr>
          <a:xfrm>
            <a:off x="500812" y="1825285"/>
            <a:ext cx="1353312" cy="1097280"/>
          </a:xfrm>
          <a:prstGeom prst="rect">
            <a:avLst/>
          </a:prstGeom>
          <a:solidFill>
            <a:srgbClr val="E8F4F8"/>
          </a:solidFill>
          <a:ln w="25400">
            <a:solidFill>
              <a:srgbClr val="00B4A6"/>
            </a:solidFill>
            <a:prstDash val="solid"/>
          </a:ln>
          <a:effectLst>
            <a:outerShdw blurRad="76200" dist="25400" dir="8100000" algn="bl" rotWithShape="0">
              <a:srgbClr val="000000">
                <a:alpha val="1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948868" y="1916725"/>
            <a:ext cx="457200" cy="457200"/>
          </a:xfrm>
          <a:prstGeom prst="rect">
            <a:avLst/>
          </a:prstGeom>
        </p:spPr>
      </p:pic>
      <p:sp>
        <p:nvSpPr>
          <p:cNvPr id="8" name="Text 5"/>
          <p:cNvSpPr/>
          <p:nvPr/>
        </p:nvSpPr>
        <p:spPr>
          <a:xfrm>
            <a:off x="537388" y="2419645"/>
            <a:ext cx="1280160" cy="457200"/>
          </a:xfrm>
          <a:prstGeom prst="rect">
            <a:avLst/>
          </a:prstGeom>
          <a:noFill/>
          <a:ln/>
        </p:spPr>
        <p:txBody>
          <a:bodyPr wrap="square" rtlCol="0" anchor="ctr"/>
          <a:lstStyle/>
          <a:p>
            <a:pPr marL="0" indent="0" algn="ctr">
              <a:buNone/>
            </a:pPr>
            <a:r>
              <a:rPr lang="en-US" sz="1000" b="1" dirty="0">
                <a:solidFill>
                  <a:srgbClr val="0A1628"/>
                </a:solidFill>
              </a:rPr>
              <a:t>Raw</a:t>
            </a:r>
            <a:endParaRPr lang="en-US" sz="1000" dirty="0"/>
          </a:p>
          <a:p>
            <a:pPr marL="0" indent="0" algn="ctr">
              <a:buNone/>
            </a:pPr>
            <a:r>
              <a:rPr lang="en-US" sz="1000" b="1" dirty="0">
                <a:solidFill>
                  <a:srgbClr val="0A1628"/>
                </a:solidFill>
              </a:rPr>
              <a:t>Text</a:t>
            </a:r>
            <a:endParaRPr lang="en-US" sz="1000" dirty="0"/>
          </a:p>
        </p:txBody>
      </p:sp>
      <p:sp>
        <p:nvSpPr>
          <p:cNvPr id="9" name="Shape 6"/>
          <p:cNvSpPr/>
          <p:nvPr/>
        </p:nvSpPr>
        <p:spPr>
          <a:xfrm>
            <a:off x="1908988" y="2328205"/>
            <a:ext cx="201168" cy="91440"/>
          </a:xfrm>
          <a:prstGeom prst="rect">
            <a:avLst/>
          </a:prstGeom>
          <a:solidFill>
            <a:srgbClr val="64748B"/>
          </a:solidFill>
          <a:ln w="12700">
            <a:solidFill>
              <a:srgbClr val="64748B"/>
            </a:solidFill>
            <a:prstDash val="solid"/>
          </a:ln>
        </p:spPr>
        <p:txBody>
          <a:bodyPr/>
          <a:lstStyle/>
          <a:p>
            <a:endParaRPr lang="en-US"/>
          </a:p>
        </p:txBody>
      </p:sp>
      <p:sp>
        <p:nvSpPr>
          <p:cNvPr id="10" name="Text 7"/>
          <p:cNvSpPr/>
          <p:nvPr/>
        </p:nvSpPr>
        <p:spPr>
          <a:xfrm>
            <a:off x="2000428" y="2264197"/>
            <a:ext cx="182880" cy="228600"/>
          </a:xfrm>
          <a:prstGeom prst="rect">
            <a:avLst/>
          </a:prstGeom>
          <a:noFill/>
          <a:ln/>
        </p:spPr>
        <p:txBody>
          <a:bodyPr wrap="square" rtlCol="0" anchor="ctr"/>
          <a:lstStyle/>
          <a:p>
            <a:pPr marL="0" indent="0">
              <a:buNone/>
            </a:pPr>
            <a:r>
              <a:rPr lang="en-US" sz="1200" dirty="0">
                <a:solidFill>
                  <a:srgbClr val="64748B"/>
                </a:solidFill>
              </a:rPr>
              <a:t>▶</a:t>
            </a:r>
            <a:endParaRPr lang="en-US" sz="1200" dirty="0"/>
          </a:p>
        </p:txBody>
      </p:sp>
      <p:sp>
        <p:nvSpPr>
          <p:cNvPr id="11" name="Shape 8"/>
          <p:cNvSpPr/>
          <p:nvPr/>
        </p:nvSpPr>
        <p:spPr>
          <a:xfrm>
            <a:off x="2201596" y="1825285"/>
            <a:ext cx="1353312" cy="1097280"/>
          </a:xfrm>
          <a:prstGeom prst="rect">
            <a:avLst/>
          </a:prstGeom>
          <a:solidFill>
            <a:srgbClr val="E8F8EE"/>
          </a:solidFill>
          <a:ln w="25400">
            <a:solidFill>
              <a:srgbClr val="22C55E"/>
            </a:solidFill>
            <a:prstDash val="solid"/>
          </a:ln>
          <a:effectLst>
            <a:outerShdw blurRad="76200" dist="25400" dir="8100000" algn="bl" rotWithShape="0">
              <a:srgbClr val="000000">
                <a:alpha val="10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2649652" y="1916725"/>
            <a:ext cx="457200" cy="457200"/>
          </a:xfrm>
          <a:prstGeom prst="rect">
            <a:avLst/>
          </a:prstGeom>
        </p:spPr>
      </p:pic>
      <p:sp>
        <p:nvSpPr>
          <p:cNvPr id="13" name="Text 9"/>
          <p:cNvSpPr/>
          <p:nvPr/>
        </p:nvSpPr>
        <p:spPr>
          <a:xfrm>
            <a:off x="2238172" y="2419645"/>
            <a:ext cx="1280160" cy="457200"/>
          </a:xfrm>
          <a:prstGeom prst="rect">
            <a:avLst/>
          </a:prstGeom>
          <a:noFill/>
          <a:ln/>
        </p:spPr>
        <p:txBody>
          <a:bodyPr wrap="square" rtlCol="0" anchor="ctr"/>
          <a:lstStyle/>
          <a:p>
            <a:pPr marL="0" indent="0" algn="ctr">
              <a:buNone/>
            </a:pPr>
            <a:r>
              <a:rPr lang="en-US" sz="1000" b="1" dirty="0">
                <a:solidFill>
                  <a:srgbClr val="0A1628"/>
                </a:solidFill>
              </a:rPr>
              <a:t>NLTK</a:t>
            </a:r>
            <a:endParaRPr lang="en-US" sz="1000" dirty="0"/>
          </a:p>
          <a:p>
            <a:pPr marL="0" indent="0" algn="ctr">
              <a:buNone/>
            </a:pPr>
            <a:r>
              <a:rPr lang="en-US" sz="1000" b="1" dirty="0">
                <a:solidFill>
                  <a:srgbClr val="0A1628"/>
                </a:solidFill>
              </a:rPr>
              <a:t>Cleaning</a:t>
            </a:r>
            <a:endParaRPr lang="en-US" sz="1000" dirty="0"/>
          </a:p>
        </p:txBody>
      </p:sp>
      <p:sp>
        <p:nvSpPr>
          <p:cNvPr id="14" name="Shape 10"/>
          <p:cNvSpPr/>
          <p:nvPr/>
        </p:nvSpPr>
        <p:spPr>
          <a:xfrm>
            <a:off x="3609772" y="2328205"/>
            <a:ext cx="201168" cy="91440"/>
          </a:xfrm>
          <a:prstGeom prst="rect">
            <a:avLst/>
          </a:prstGeom>
          <a:solidFill>
            <a:srgbClr val="64748B"/>
          </a:solidFill>
          <a:ln w="12700">
            <a:solidFill>
              <a:srgbClr val="64748B"/>
            </a:solidFill>
            <a:prstDash val="solid"/>
          </a:ln>
        </p:spPr>
        <p:txBody>
          <a:bodyPr/>
          <a:lstStyle/>
          <a:p>
            <a:endParaRPr lang="en-US"/>
          </a:p>
        </p:txBody>
      </p:sp>
      <p:sp>
        <p:nvSpPr>
          <p:cNvPr id="15" name="Text 11"/>
          <p:cNvSpPr/>
          <p:nvPr/>
        </p:nvSpPr>
        <p:spPr>
          <a:xfrm>
            <a:off x="3682924" y="2264197"/>
            <a:ext cx="182880" cy="228600"/>
          </a:xfrm>
          <a:prstGeom prst="rect">
            <a:avLst/>
          </a:prstGeom>
          <a:noFill/>
          <a:ln/>
        </p:spPr>
        <p:txBody>
          <a:bodyPr wrap="square" rtlCol="0" anchor="ctr"/>
          <a:lstStyle/>
          <a:p>
            <a:pPr marL="0" indent="0">
              <a:buNone/>
            </a:pPr>
            <a:r>
              <a:rPr lang="en-US" sz="1200" dirty="0">
                <a:solidFill>
                  <a:srgbClr val="64748B"/>
                </a:solidFill>
              </a:rPr>
              <a:t>▶</a:t>
            </a:r>
            <a:endParaRPr lang="en-US" sz="1200" dirty="0"/>
          </a:p>
        </p:txBody>
      </p:sp>
      <p:sp>
        <p:nvSpPr>
          <p:cNvPr id="16" name="Shape 12"/>
          <p:cNvSpPr/>
          <p:nvPr/>
        </p:nvSpPr>
        <p:spPr>
          <a:xfrm>
            <a:off x="3884092" y="1825285"/>
            <a:ext cx="1353312" cy="1097280"/>
          </a:xfrm>
          <a:prstGeom prst="rect">
            <a:avLst/>
          </a:prstGeom>
          <a:solidFill>
            <a:srgbClr val="FFF3E8"/>
          </a:solidFill>
          <a:ln w="25400">
            <a:solidFill>
              <a:srgbClr val="FF6B35"/>
            </a:solidFill>
            <a:prstDash val="solid"/>
          </a:ln>
          <a:effectLst>
            <a:outerShdw blurRad="76200" dist="25400" dir="8100000" algn="bl" rotWithShape="0">
              <a:srgbClr val="000000">
                <a:alpha val="10000"/>
              </a:srgbClr>
            </a:outerShdw>
          </a:effectLst>
        </p:spPr>
        <p:txBody>
          <a:bodyPr/>
          <a:lstStyle/>
          <a:p>
            <a:endParaRPr lang="en-US"/>
          </a:p>
        </p:txBody>
      </p:sp>
      <p:pic>
        <p:nvPicPr>
          <p:cNvPr id="17" name="Image 2" descr="preencoded.png"/>
          <p:cNvPicPr>
            <a:picLocks noChangeAspect="1"/>
          </p:cNvPicPr>
          <p:nvPr/>
        </p:nvPicPr>
        <p:blipFill>
          <a:blip r:embed="rId5"/>
          <a:stretch>
            <a:fillRect/>
          </a:stretch>
        </p:blipFill>
        <p:spPr>
          <a:xfrm>
            <a:off x="4304716" y="1962445"/>
            <a:ext cx="457200" cy="457200"/>
          </a:xfrm>
          <a:prstGeom prst="rect">
            <a:avLst/>
          </a:prstGeom>
        </p:spPr>
      </p:pic>
      <p:sp>
        <p:nvSpPr>
          <p:cNvPr id="18" name="Text 13"/>
          <p:cNvSpPr/>
          <p:nvPr/>
        </p:nvSpPr>
        <p:spPr>
          <a:xfrm>
            <a:off x="3938956" y="2419645"/>
            <a:ext cx="1280160" cy="457200"/>
          </a:xfrm>
          <a:prstGeom prst="rect">
            <a:avLst/>
          </a:prstGeom>
          <a:noFill/>
          <a:ln/>
        </p:spPr>
        <p:txBody>
          <a:bodyPr wrap="square" rtlCol="0" anchor="ctr"/>
          <a:lstStyle/>
          <a:p>
            <a:pPr marL="0" indent="0" algn="ctr">
              <a:buNone/>
            </a:pPr>
            <a:r>
              <a:rPr lang="en-US" sz="1000" b="1" dirty="0">
                <a:solidFill>
                  <a:srgbClr val="0A1628"/>
                </a:solidFill>
              </a:rPr>
              <a:t>spaCy</a:t>
            </a:r>
            <a:endParaRPr lang="en-US" sz="1000" dirty="0"/>
          </a:p>
          <a:p>
            <a:pPr marL="0" indent="0" algn="ctr">
              <a:buNone/>
            </a:pPr>
            <a:r>
              <a:rPr lang="en-US" sz="1000" b="1" dirty="0">
                <a:solidFill>
                  <a:srgbClr val="0A1628"/>
                </a:solidFill>
              </a:rPr>
              <a:t>NER</a:t>
            </a:r>
            <a:endParaRPr lang="en-US" sz="1000" dirty="0"/>
          </a:p>
        </p:txBody>
      </p:sp>
      <p:sp>
        <p:nvSpPr>
          <p:cNvPr id="19" name="Shape 14"/>
          <p:cNvSpPr/>
          <p:nvPr/>
        </p:nvSpPr>
        <p:spPr>
          <a:xfrm>
            <a:off x="5310556" y="2328205"/>
            <a:ext cx="201168" cy="91440"/>
          </a:xfrm>
          <a:prstGeom prst="rect">
            <a:avLst/>
          </a:prstGeom>
          <a:solidFill>
            <a:srgbClr val="64748B"/>
          </a:solidFill>
          <a:ln w="12700">
            <a:solidFill>
              <a:srgbClr val="64748B"/>
            </a:solidFill>
            <a:prstDash val="solid"/>
          </a:ln>
        </p:spPr>
        <p:txBody>
          <a:bodyPr/>
          <a:lstStyle/>
          <a:p>
            <a:endParaRPr lang="en-US"/>
          </a:p>
        </p:txBody>
      </p:sp>
      <p:sp>
        <p:nvSpPr>
          <p:cNvPr id="20" name="Text 15"/>
          <p:cNvSpPr/>
          <p:nvPr/>
        </p:nvSpPr>
        <p:spPr>
          <a:xfrm>
            <a:off x="5401996" y="2264197"/>
            <a:ext cx="182880" cy="228600"/>
          </a:xfrm>
          <a:prstGeom prst="rect">
            <a:avLst/>
          </a:prstGeom>
          <a:noFill/>
          <a:ln/>
        </p:spPr>
        <p:txBody>
          <a:bodyPr wrap="square" rtlCol="0" anchor="ctr"/>
          <a:lstStyle/>
          <a:p>
            <a:pPr marL="0" indent="0">
              <a:buNone/>
            </a:pPr>
            <a:r>
              <a:rPr lang="en-US" sz="1200" dirty="0">
                <a:solidFill>
                  <a:srgbClr val="64748B"/>
                </a:solidFill>
              </a:rPr>
              <a:t>▶</a:t>
            </a:r>
            <a:endParaRPr lang="en-US" sz="1200" dirty="0"/>
          </a:p>
        </p:txBody>
      </p:sp>
      <p:sp>
        <p:nvSpPr>
          <p:cNvPr id="21" name="Shape 16"/>
          <p:cNvSpPr/>
          <p:nvPr/>
        </p:nvSpPr>
        <p:spPr>
          <a:xfrm>
            <a:off x="5603164" y="1825285"/>
            <a:ext cx="1353312" cy="1097280"/>
          </a:xfrm>
          <a:prstGeom prst="rect">
            <a:avLst/>
          </a:prstGeom>
          <a:solidFill>
            <a:srgbClr val="EEE8FF"/>
          </a:solidFill>
          <a:ln w="25400">
            <a:solidFill>
              <a:srgbClr val="6C63FF"/>
            </a:solidFill>
            <a:prstDash val="solid"/>
          </a:ln>
          <a:effectLst>
            <a:outerShdw blurRad="76200" dist="25400" dir="8100000" algn="bl" rotWithShape="0">
              <a:srgbClr val="000000">
                <a:alpha val="10000"/>
              </a:srgbClr>
            </a:outerShdw>
          </a:effectLst>
        </p:spPr>
        <p:txBody>
          <a:bodyPr/>
          <a:lstStyle/>
          <a:p>
            <a:endParaRPr lang="en-US"/>
          </a:p>
        </p:txBody>
      </p:sp>
      <p:pic>
        <p:nvPicPr>
          <p:cNvPr id="22" name="Image 3" descr="preencoded.png"/>
          <p:cNvPicPr>
            <a:picLocks noChangeAspect="1"/>
          </p:cNvPicPr>
          <p:nvPr/>
        </p:nvPicPr>
        <p:blipFill>
          <a:blip r:embed="rId6"/>
          <a:stretch>
            <a:fillRect/>
          </a:stretch>
        </p:blipFill>
        <p:spPr>
          <a:xfrm>
            <a:off x="6051220" y="1916725"/>
            <a:ext cx="457200" cy="457200"/>
          </a:xfrm>
          <a:prstGeom prst="rect">
            <a:avLst/>
          </a:prstGeom>
        </p:spPr>
      </p:pic>
      <p:sp>
        <p:nvSpPr>
          <p:cNvPr id="23" name="Text 17"/>
          <p:cNvSpPr/>
          <p:nvPr/>
        </p:nvSpPr>
        <p:spPr>
          <a:xfrm>
            <a:off x="5639740" y="2419645"/>
            <a:ext cx="1280160" cy="457200"/>
          </a:xfrm>
          <a:prstGeom prst="rect">
            <a:avLst/>
          </a:prstGeom>
          <a:noFill/>
          <a:ln/>
        </p:spPr>
        <p:txBody>
          <a:bodyPr wrap="square" rtlCol="0" anchor="ctr"/>
          <a:lstStyle/>
          <a:p>
            <a:pPr marL="0" indent="0" algn="ctr">
              <a:buNone/>
            </a:pPr>
            <a:r>
              <a:rPr lang="en-US" sz="1000" b="1" dirty="0">
                <a:solidFill>
                  <a:srgbClr val="0A1628"/>
                </a:solidFill>
              </a:rPr>
              <a:t>Gensim</a:t>
            </a:r>
            <a:endParaRPr lang="en-US" sz="1000" dirty="0"/>
          </a:p>
          <a:p>
            <a:pPr marL="0" indent="0" algn="ctr">
              <a:buNone/>
            </a:pPr>
            <a:r>
              <a:rPr lang="en-US" sz="1000" b="1" dirty="0">
                <a:solidFill>
                  <a:srgbClr val="0A1628"/>
                </a:solidFill>
              </a:rPr>
              <a:t>Word2Vec</a:t>
            </a:r>
            <a:endParaRPr lang="en-US" sz="1000" dirty="0"/>
          </a:p>
        </p:txBody>
      </p:sp>
      <p:sp>
        <p:nvSpPr>
          <p:cNvPr id="24" name="Shape 18"/>
          <p:cNvSpPr/>
          <p:nvPr/>
        </p:nvSpPr>
        <p:spPr>
          <a:xfrm>
            <a:off x="7011340" y="2328205"/>
            <a:ext cx="201168" cy="91440"/>
          </a:xfrm>
          <a:prstGeom prst="rect">
            <a:avLst/>
          </a:prstGeom>
          <a:solidFill>
            <a:srgbClr val="64748B"/>
          </a:solidFill>
          <a:ln w="12700">
            <a:solidFill>
              <a:srgbClr val="64748B"/>
            </a:solidFill>
            <a:prstDash val="solid"/>
          </a:ln>
        </p:spPr>
        <p:txBody>
          <a:bodyPr/>
          <a:lstStyle/>
          <a:p>
            <a:endParaRPr lang="en-US"/>
          </a:p>
        </p:txBody>
      </p:sp>
      <p:sp>
        <p:nvSpPr>
          <p:cNvPr id="25" name="Text 19"/>
          <p:cNvSpPr/>
          <p:nvPr/>
        </p:nvSpPr>
        <p:spPr>
          <a:xfrm>
            <a:off x="7084492" y="2264197"/>
            <a:ext cx="182880" cy="228600"/>
          </a:xfrm>
          <a:prstGeom prst="rect">
            <a:avLst/>
          </a:prstGeom>
          <a:noFill/>
          <a:ln/>
        </p:spPr>
        <p:txBody>
          <a:bodyPr wrap="square" rtlCol="0" anchor="ctr"/>
          <a:lstStyle/>
          <a:p>
            <a:pPr marL="0" indent="0">
              <a:buNone/>
            </a:pPr>
            <a:r>
              <a:rPr lang="en-US" sz="1200" dirty="0">
                <a:solidFill>
                  <a:srgbClr val="64748B"/>
                </a:solidFill>
              </a:rPr>
              <a:t>▶</a:t>
            </a:r>
            <a:endParaRPr lang="en-US" sz="1200" dirty="0"/>
          </a:p>
        </p:txBody>
      </p:sp>
      <p:sp>
        <p:nvSpPr>
          <p:cNvPr id="26" name="Shape 20"/>
          <p:cNvSpPr/>
          <p:nvPr/>
        </p:nvSpPr>
        <p:spPr>
          <a:xfrm>
            <a:off x="7303948" y="1825285"/>
            <a:ext cx="1353312" cy="1097280"/>
          </a:xfrm>
          <a:prstGeom prst="rect">
            <a:avLst/>
          </a:prstGeom>
          <a:solidFill>
            <a:srgbClr val="FFE8EC"/>
          </a:solidFill>
          <a:ln w="25400">
            <a:solidFill>
              <a:srgbClr val="EF4444"/>
            </a:solidFill>
            <a:prstDash val="solid"/>
          </a:ln>
          <a:effectLst>
            <a:outerShdw blurRad="76200" dist="25400" dir="8100000" algn="bl" rotWithShape="0">
              <a:srgbClr val="000000">
                <a:alpha val="10000"/>
              </a:srgbClr>
            </a:outerShdw>
          </a:effectLst>
        </p:spPr>
        <p:txBody>
          <a:bodyPr/>
          <a:lstStyle/>
          <a:p>
            <a:endParaRPr lang="en-US"/>
          </a:p>
        </p:txBody>
      </p:sp>
      <p:pic>
        <p:nvPicPr>
          <p:cNvPr id="27" name="Image 4" descr="preencoded.png"/>
          <p:cNvPicPr>
            <a:picLocks noChangeAspect="1"/>
          </p:cNvPicPr>
          <p:nvPr/>
        </p:nvPicPr>
        <p:blipFill>
          <a:blip r:embed="rId7"/>
          <a:stretch>
            <a:fillRect/>
          </a:stretch>
        </p:blipFill>
        <p:spPr>
          <a:xfrm>
            <a:off x="7752004" y="1916725"/>
            <a:ext cx="457200" cy="457200"/>
          </a:xfrm>
          <a:prstGeom prst="rect">
            <a:avLst/>
          </a:prstGeom>
        </p:spPr>
      </p:pic>
      <p:sp>
        <p:nvSpPr>
          <p:cNvPr id="28" name="Text 21"/>
          <p:cNvSpPr/>
          <p:nvPr/>
        </p:nvSpPr>
        <p:spPr>
          <a:xfrm>
            <a:off x="7340524" y="2419645"/>
            <a:ext cx="1280160" cy="457200"/>
          </a:xfrm>
          <a:prstGeom prst="rect">
            <a:avLst/>
          </a:prstGeom>
          <a:noFill/>
          <a:ln/>
        </p:spPr>
        <p:txBody>
          <a:bodyPr wrap="square" rtlCol="0" anchor="ctr"/>
          <a:lstStyle/>
          <a:p>
            <a:pPr marL="0" indent="0" algn="ctr">
              <a:buNone/>
            </a:pPr>
            <a:r>
              <a:rPr lang="en-US" sz="1000" b="1" dirty="0">
                <a:solidFill>
                  <a:srgbClr val="0A1628"/>
                </a:solidFill>
              </a:rPr>
              <a:t>Classification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8631936" cy="640080"/>
          </a:xfrm>
          <a:prstGeom prst="rect">
            <a:avLst/>
          </a:prstGeom>
          <a:solidFill>
            <a:srgbClr val="00B4A6"/>
          </a:solidFill>
          <a:ln w="12700">
            <a:solidFill>
              <a:srgbClr val="00B4A6"/>
            </a:solidFill>
            <a:prstDash val="solid"/>
          </a:ln>
        </p:spPr>
        <p:txBody>
          <a:bodyPr/>
          <a:lstStyle/>
          <a:p>
            <a:endParaRPr lang="en-US"/>
          </a:p>
        </p:txBody>
      </p:sp>
      <p:sp>
        <p:nvSpPr>
          <p:cNvPr id="4" name="Text 2"/>
          <p:cNvSpPr/>
          <p:nvPr/>
        </p:nvSpPr>
        <p:spPr>
          <a:xfrm>
            <a:off x="256032" y="182880"/>
            <a:ext cx="8631936" cy="640080"/>
          </a:xfrm>
          <a:prstGeom prst="rect">
            <a:avLst/>
          </a:prstGeom>
          <a:noFill/>
          <a:ln/>
        </p:spPr>
        <p:txBody>
          <a:bodyPr wrap="square" lIns="0" tIns="203200" rIns="0" bIns="0" rtlCol="0" anchor="ctr"/>
          <a:lstStyle/>
          <a:p>
            <a:pPr marL="0" indent="0" algn="l">
              <a:buNone/>
            </a:pPr>
            <a:r>
              <a:rPr lang="en-US" sz="1800" b="1" dirty="0">
                <a:solidFill>
                  <a:srgbClr val="FFFFFF"/>
                </a:solidFill>
              </a:rPr>
              <a:t>The Dataset</a:t>
            </a:r>
            <a:endParaRPr lang="en-US" sz="1800" dirty="0"/>
          </a:p>
        </p:txBody>
      </p:sp>
      <p:sp>
        <p:nvSpPr>
          <p:cNvPr id="5" name="Text 3"/>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5 / 18</a:t>
            </a:r>
            <a:endParaRPr lang="en-US" sz="800" dirty="0"/>
          </a:p>
        </p:txBody>
      </p:sp>
      <p:sp>
        <p:nvSpPr>
          <p:cNvPr id="6" name="Shape 4"/>
          <p:cNvSpPr/>
          <p:nvPr/>
        </p:nvSpPr>
        <p:spPr>
          <a:xfrm>
            <a:off x="256032" y="1056132"/>
            <a:ext cx="3474720" cy="868680"/>
          </a:xfrm>
          <a:prstGeom prst="rect">
            <a:avLst/>
          </a:prstGeom>
          <a:solidFill>
            <a:srgbClr val="FFFFFF"/>
          </a:solidFill>
          <a:ln w="19050">
            <a:solidFill>
              <a:srgbClr val="00B4A6"/>
            </a:solidFill>
            <a:prstDash val="solid"/>
          </a:ln>
          <a:effectLst>
            <a:outerShdw blurRad="63500" dist="12700" dir="8100000" algn="bl" rotWithShape="0">
              <a:srgbClr val="000000">
                <a:alpha val="8000"/>
              </a:srgbClr>
            </a:outerShdw>
          </a:effectLst>
        </p:spPr>
        <p:txBody>
          <a:bodyPr/>
          <a:lstStyle/>
          <a:p>
            <a:endParaRPr lang="en-US"/>
          </a:p>
        </p:txBody>
      </p:sp>
      <p:sp>
        <p:nvSpPr>
          <p:cNvPr id="7" name="Shape 5"/>
          <p:cNvSpPr/>
          <p:nvPr/>
        </p:nvSpPr>
        <p:spPr>
          <a:xfrm>
            <a:off x="256032" y="1051560"/>
            <a:ext cx="109728" cy="868680"/>
          </a:xfrm>
          <a:prstGeom prst="rect">
            <a:avLst/>
          </a:prstGeom>
          <a:solidFill>
            <a:srgbClr val="00B4A6"/>
          </a:solidFill>
          <a:ln w="12700">
            <a:solidFill>
              <a:srgbClr val="00B4A6"/>
            </a:solidFill>
            <a:prstDash val="solid"/>
          </a:ln>
        </p:spPr>
        <p:txBody>
          <a:bodyPr/>
          <a:lstStyle/>
          <a:p>
            <a:endParaRPr lang="en-US"/>
          </a:p>
        </p:txBody>
      </p:sp>
      <p:sp>
        <p:nvSpPr>
          <p:cNvPr id="8" name="Text 6"/>
          <p:cNvSpPr/>
          <p:nvPr/>
        </p:nvSpPr>
        <p:spPr>
          <a:xfrm>
            <a:off x="502920" y="1124712"/>
            <a:ext cx="3017520" cy="365760"/>
          </a:xfrm>
          <a:prstGeom prst="rect">
            <a:avLst/>
          </a:prstGeom>
          <a:noFill/>
          <a:ln/>
        </p:spPr>
        <p:txBody>
          <a:bodyPr wrap="square" rtlCol="0" anchor="ctr"/>
          <a:lstStyle/>
          <a:p>
            <a:pPr marL="0" indent="0">
              <a:buNone/>
            </a:pPr>
            <a:r>
              <a:rPr lang="en-US" sz="2400" b="1" dirty="0">
                <a:solidFill>
                  <a:srgbClr val="00B4A6"/>
                </a:solidFill>
              </a:rPr>
              <a:t>~10K</a:t>
            </a:r>
            <a:endParaRPr lang="en-US" sz="2400" dirty="0"/>
          </a:p>
        </p:txBody>
      </p:sp>
      <p:sp>
        <p:nvSpPr>
          <p:cNvPr id="9" name="Text 7"/>
          <p:cNvSpPr/>
          <p:nvPr/>
        </p:nvSpPr>
        <p:spPr>
          <a:xfrm>
            <a:off x="502920" y="1527048"/>
            <a:ext cx="3017520" cy="274320"/>
          </a:xfrm>
          <a:prstGeom prst="rect">
            <a:avLst/>
          </a:prstGeom>
          <a:noFill/>
          <a:ln/>
        </p:spPr>
        <p:txBody>
          <a:bodyPr wrap="square" rtlCol="0" anchor="ctr"/>
          <a:lstStyle/>
          <a:p>
            <a:pPr marL="0" indent="0">
              <a:buNone/>
            </a:pPr>
            <a:r>
              <a:rPr lang="en-US" sz="1100" dirty="0">
                <a:solidFill>
                  <a:srgbClr val="64748B"/>
                </a:solidFill>
              </a:rPr>
              <a:t>Abstracts</a:t>
            </a:r>
            <a:endParaRPr lang="en-US" sz="1100" dirty="0"/>
          </a:p>
        </p:txBody>
      </p:sp>
      <p:sp>
        <p:nvSpPr>
          <p:cNvPr id="10" name="Shape 8"/>
          <p:cNvSpPr/>
          <p:nvPr/>
        </p:nvSpPr>
        <p:spPr>
          <a:xfrm>
            <a:off x="3977640" y="1056132"/>
            <a:ext cx="3474720" cy="868680"/>
          </a:xfrm>
          <a:prstGeom prst="rect">
            <a:avLst/>
          </a:prstGeom>
          <a:solidFill>
            <a:srgbClr val="FFFFFF"/>
          </a:solidFill>
          <a:ln w="19050">
            <a:solidFill>
              <a:srgbClr val="00B4A6"/>
            </a:solidFill>
            <a:prstDash val="solid"/>
          </a:ln>
          <a:effectLst>
            <a:outerShdw blurRad="63500" dist="12700" dir="8100000" algn="bl" rotWithShape="0">
              <a:srgbClr val="000000">
                <a:alpha val="8000"/>
              </a:srgbClr>
            </a:outerShdw>
          </a:effectLst>
        </p:spPr>
        <p:txBody>
          <a:bodyPr/>
          <a:lstStyle/>
          <a:p>
            <a:endParaRPr lang="en-US"/>
          </a:p>
        </p:txBody>
      </p:sp>
      <p:sp>
        <p:nvSpPr>
          <p:cNvPr id="11" name="Shape 9"/>
          <p:cNvSpPr/>
          <p:nvPr/>
        </p:nvSpPr>
        <p:spPr>
          <a:xfrm>
            <a:off x="3977640" y="1056132"/>
            <a:ext cx="109728" cy="868680"/>
          </a:xfrm>
          <a:prstGeom prst="rect">
            <a:avLst/>
          </a:prstGeom>
          <a:solidFill>
            <a:srgbClr val="00B4A6"/>
          </a:solidFill>
          <a:ln w="12700">
            <a:solidFill>
              <a:srgbClr val="00B4A6"/>
            </a:solidFill>
            <a:prstDash val="solid"/>
          </a:ln>
        </p:spPr>
        <p:txBody>
          <a:bodyPr/>
          <a:lstStyle/>
          <a:p>
            <a:endParaRPr lang="en-US"/>
          </a:p>
        </p:txBody>
      </p:sp>
      <p:sp>
        <p:nvSpPr>
          <p:cNvPr id="12" name="Text 10"/>
          <p:cNvSpPr/>
          <p:nvPr/>
        </p:nvSpPr>
        <p:spPr>
          <a:xfrm>
            <a:off x="4224528" y="1129284"/>
            <a:ext cx="3017520" cy="365760"/>
          </a:xfrm>
          <a:prstGeom prst="rect">
            <a:avLst/>
          </a:prstGeom>
          <a:noFill/>
          <a:ln/>
        </p:spPr>
        <p:txBody>
          <a:bodyPr wrap="square" rtlCol="0" anchor="ctr"/>
          <a:lstStyle/>
          <a:p>
            <a:pPr marL="0" indent="0">
              <a:buNone/>
            </a:pPr>
            <a:r>
              <a:rPr lang="en-US" sz="2400" b="1" dirty="0">
                <a:solidFill>
                  <a:srgbClr val="00B4A6"/>
                </a:solidFill>
              </a:rPr>
              <a:t>2</a:t>
            </a:r>
            <a:endParaRPr lang="en-US" sz="2400" dirty="0"/>
          </a:p>
        </p:txBody>
      </p:sp>
      <p:sp>
        <p:nvSpPr>
          <p:cNvPr id="13" name="Text 11"/>
          <p:cNvSpPr/>
          <p:nvPr/>
        </p:nvSpPr>
        <p:spPr>
          <a:xfrm>
            <a:off x="4224528" y="1531620"/>
            <a:ext cx="3017520" cy="274320"/>
          </a:xfrm>
          <a:prstGeom prst="rect">
            <a:avLst/>
          </a:prstGeom>
          <a:noFill/>
          <a:ln/>
        </p:spPr>
        <p:txBody>
          <a:bodyPr wrap="square" rtlCol="0" anchor="ctr"/>
          <a:lstStyle/>
          <a:p>
            <a:pPr marL="0" indent="0">
              <a:buNone/>
            </a:pPr>
            <a:r>
              <a:rPr lang="en-US" sz="1100" dirty="0">
                <a:solidFill>
                  <a:srgbClr val="64748B"/>
                </a:solidFill>
              </a:rPr>
              <a:t>Topic Classes</a:t>
            </a:r>
            <a:endParaRPr lang="en-US" sz="1100" dirty="0"/>
          </a:p>
        </p:txBody>
      </p:sp>
      <p:sp>
        <p:nvSpPr>
          <p:cNvPr id="14" name="Shape 12"/>
          <p:cNvSpPr/>
          <p:nvPr/>
        </p:nvSpPr>
        <p:spPr>
          <a:xfrm>
            <a:off x="256032" y="2077711"/>
            <a:ext cx="3474720" cy="868680"/>
          </a:xfrm>
          <a:prstGeom prst="rect">
            <a:avLst/>
          </a:prstGeom>
          <a:solidFill>
            <a:srgbClr val="FFFFFF"/>
          </a:solidFill>
          <a:ln w="19050">
            <a:solidFill>
              <a:srgbClr val="00B4A6"/>
            </a:solidFill>
            <a:prstDash val="solid"/>
          </a:ln>
          <a:effectLst>
            <a:outerShdw blurRad="63500" dist="12700" dir="8100000" algn="bl" rotWithShape="0">
              <a:srgbClr val="000000">
                <a:alpha val="8000"/>
              </a:srgbClr>
            </a:outerShdw>
          </a:effectLst>
        </p:spPr>
        <p:txBody>
          <a:bodyPr/>
          <a:lstStyle/>
          <a:p>
            <a:endParaRPr lang="en-US"/>
          </a:p>
        </p:txBody>
      </p:sp>
      <p:sp>
        <p:nvSpPr>
          <p:cNvPr id="15" name="Shape 13"/>
          <p:cNvSpPr/>
          <p:nvPr/>
        </p:nvSpPr>
        <p:spPr>
          <a:xfrm>
            <a:off x="228600" y="2077711"/>
            <a:ext cx="109728" cy="868680"/>
          </a:xfrm>
          <a:prstGeom prst="rect">
            <a:avLst/>
          </a:prstGeom>
          <a:solidFill>
            <a:srgbClr val="00B4A6"/>
          </a:solidFill>
          <a:ln w="12700">
            <a:solidFill>
              <a:srgbClr val="00B4A6"/>
            </a:solidFill>
            <a:prstDash val="solid"/>
          </a:ln>
        </p:spPr>
        <p:txBody>
          <a:bodyPr/>
          <a:lstStyle/>
          <a:p>
            <a:endParaRPr lang="en-US"/>
          </a:p>
        </p:txBody>
      </p:sp>
      <p:sp>
        <p:nvSpPr>
          <p:cNvPr id="16" name="Text 14"/>
          <p:cNvSpPr/>
          <p:nvPr/>
        </p:nvSpPr>
        <p:spPr>
          <a:xfrm>
            <a:off x="502920" y="2150863"/>
            <a:ext cx="3017520" cy="365760"/>
          </a:xfrm>
          <a:prstGeom prst="rect">
            <a:avLst/>
          </a:prstGeom>
          <a:noFill/>
          <a:ln/>
        </p:spPr>
        <p:txBody>
          <a:bodyPr wrap="square" rtlCol="0" anchor="ctr"/>
          <a:lstStyle/>
          <a:p>
            <a:pPr marL="0" indent="0">
              <a:buNone/>
            </a:pPr>
            <a:r>
              <a:rPr lang="en-US" sz="2400" b="1" dirty="0">
                <a:solidFill>
                  <a:srgbClr val="00B4A6"/>
                </a:solidFill>
              </a:rPr>
              <a:t>~250 </a:t>
            </a:r>
            <a:endParaRPr lang="en-US" sz="2400" dirty="0"/>
          </a:p>
        </p:txBody>
      </p:sp>
      <p:sp>
        <p:nvSpPr>
          <p:cNvPr id="17" name="Text 15"/>
          <p:cNvSpPr/>
          <p:nvPr/>
        </p:nvSpPr>
        <p:spPr>
          <a:xfrm>
            <a:off x="502920" y="2553199"/>
            <a:ext cx="3017520" cy="274320"/>
          </a:xfrm>
          <a:prstGeom prst="rect">
            <a:avLst/>
          </a:prstGeom>
          <a:noFill/>
          <a:ln/>
        </p:spPr>
        <p:txBody>
          <a:bodyPr wrap="square" rtlCol="0" anchor="ctr"/>
          <a:lstStyle/>
          <a:p>
            <a:pPr marL="0" indent="0">
              <a:buNone/>
            </a:pPr>
            <a:r>
              <a:rPr lang="en-US" sz="1100" dirty="0">
                <a:solidFill>
                  <a:srgbClr val="64748B"/>
                </a:solidFill>
              </a:rPr>
              <a:t>Avg Words / Abstract</a:t>
            </a:r>
            <a:endParaRPr lang="en-US" sz="1100" dirty="0"/>
          </a:p>
        </p:txBody>
      </p:sp>
      <p:sp>
        <p:nvSpPr>
          <p:cNvPr id="18" name="Text 16"/>
          <p:cNvSpPr/>
          <p:nvPr/>
        </p:nvSpPr>
        <p:spPr>
          <a:xfrm>
            <a:off x="3995928" y="2880097"/>
            <a:ext cx="3474720" cy="365760"/>
          </a:xfrm>
          <a:prstGeom prst="rect">
            <a:avLst/>
          </a:prstGeom>
          <a:noFill/>
          <a:ln/>
        </p:spPr>
        <p:txBody>
          <a:bodyPr wrap="square" rtlCol="0" anchor="ctr"/>
          <a:lstStyle/>
          <a:p>
            <a:pPr marL="0" indent="0">
              <a:buNone/>
            </a:pPr>
            <a:r>
              <a:rPr lang="en-US" sz="1000" b="1" dirty="0">
                <a:solidFill>
                  <a:srgbClr val="0A1628"/>
                </a:solidFill>
              </a:rPr>
              <a:t>Source: </a:t>
            </a:r>
            <a:r>
              <a:rPr lang="en-US" sz="1000" b="0" i="0" dirty="0">
                <a:solidFill>
                  <a:srgbClr val="1F2328"/>
                </a:solidFill>
                <a:effectLst/>
                <a:latin typeface="Mona Sans VF"/>
              </a:rPr>
              <a:t>COVID-19 Open Research Dataset (CORD-19)</a:t>
            </a:r>
            <a:endParaRPr lang="en-US" sz="1000" dirty="0"/>
          </a:p>
        </p:txBody>
      </p:sp>
      <p:pic>
        <p:nvPicPr>
          <p:cNvPr id="22" name="Image 21">
            <a:extLst>
              <a:ext uri="{FF2B5EF4-FFF2-40B4-BE49-F238E27FC236}">
                <a16:creationId xmlns:a16="http://schemas.microsoft.com/office/drawing/2014/main" id="{FF4ACECC-3700-374D-1D7C-AFAE31210C78}"/>
              </a:ext>
            </a:extLst>
          </p:cNvPr>
          <p:cNvPicPr>
            <a:picLocks noChangeAspect="1"/>
          </p:cNvPicPr>
          <p:nvPr/>
        </p:nvPicPr>
        <p:blipFill>
          <a:blip r:embed="rId3"/>
          <a:stretch>
            <a:fillRect/>
          </a:stretch>
        </p:blipFill>
        <p:spPr>
          <a:xfrm>
            <a:off x="849277" y="3179563"/>
            <a:ext cx="6256726" cy="1694708"/>
          </a:xfrm>
          <a:prstGeom prst="rect">
            <a:avLst/>
          </a:prstGeom>
        </p:spPr>
      </p:pic>
      <p:sp>
        <p:nvSpPr>
          <p:cNvPr id="23" name="Shape 12">
            <a:extLst>
              <a:ext uri="{FF2B5EF4-FFF2-40B4-BE49-F238E27FC236}">
                <a16:creationId xmlns:a16="http://schemas.microsoft.com/office/drawing/2014/main" id="{407AAFFC-89B6-EC60-2A8E-D2AF57016048}"/>
              </a:ext>
            </a:extLst>
          </p:cNvPr>
          <p:cNvSpPr/>
          <p:nvPr/>
        </p:nvSpPr>
        <p:spPr>
          <a:xfrm>
            <a:off x="4005072" y="2082283"/>
            <a:ext cx="3474720" cy="868680"/>
          </a:xfrm>
          <a:prstGeom prst="rect">
            <a:avLst/>
          </a:prstGeom>
          <a:solidFill>
            <a:srgbClr val="FFFFFF"/>
          </a:solidFill>
          <a:ln w="19050">
            <a:solidFill>
              <a:srgbClr val="00B4A6"/>
            </a:solidFill>
            <a:prstDash val="solid"/>
          </a:ln>
          <a:effectLst>
            <a:outerShdw blurRad="63500" dist="12700" dir="8100000" algn="bl" rotWithShape="0">
              <a:srgbClr val="000000">
                <a:alpha val="8000"/>
              </a:srgbClr>
            </a:outerShdw>
          </a:effectLst>
        </p:spPr>
        <p:txBody>
          <a:bodyPr/>
          <a:lstStyle/>
          <a:p>
            <a:endParaRPr lang="en-US"/>
          </a:p>
        </p:txBody>
      </p:sp>
      <p:sp>
        <p:nvSpPr>
          <p:cNvPr id="24" name="Shape 13">
            <a:extLst>
              <a:ext uri="{FF2B5EF4-FFF2-40B4-BE49-F238E27FC236}">
                <a16:creationId xmlns:a16="http://schemas.microsoft.com/office/drawing/2014/main" id="{8F85545A-9319-5545-64A2-E1DF21A738E6}"/>
              </a:ext>
            </a:extLst>
          </p:cNvPr>
          <p:cNvSpPr/>
          <p:nvPr/>
        </p:nvSpPr>
        <p:spPr>
          <a:xfrm>
            <a:off x="3977640" y="2082283"/>
            <a:ext cx="109728" cy="868680"/>
          </a:xfrm>
          <a:prstGeom prst="rect">
            <a:avLst/>
          </a:prstGeom>
          <a:solidFill>
            <a:srgbClr val="00B4A6"/>
          </a:solidFill>
          <a:ln w="12700">
            <a:solidFill>
              <a:srgbClr val="00B4A6"/>
            </a:solidFill>
            <a:prstDash val="solid"/>
          </a:ln>
        </p:spPr>
        <p:txBody>
          <a:bodyPr/>
          <a:lstStyle/>
          <a:p>
            <a:endParaRPr lang="en-US"/>
          </a:p>
        </p:txBody>
      </p:sp>
      <p:sp>
        <p:nvSpPr>
          <p:cNvPr id="25" name="Text 14">
            <a:extLst>
              <a:ext uri="{FF2B5EF4-FFF2-40B4-BE49-F238E27FC236}">
                <a16:creationId xmlns:a16="http://schemas.microsoft.com/office/drawing/2014/main" id="{0D145697-FE77-CC18-0841-EB00C09862A1}"/>
              </a:ext>
            </a:extLst>
          </p:cNvPr>
          <p:cNvSpPr/>
          <p:nvPr/>
        </p:nvSpPr>
        <p:spPr>
          <a:xfrm>
            <a:off x="4251960" y="2155435"/>
            <a:ext cx="3017520" cy="365760"/>
          </a:xfrm>
          <a:prstGeom prst="rect">
            <a:avLst/>
          </a:prstGeom>
          <a:noFill/>
          <a:ln/>
        </p:spPr>
        <p:txBody>
          <a:bodyPr wrap="square" rtlCol="0" anchor="ctr"/>
          <a:lstStyle/>
          <a:p>
            <a:pPr marL="0" indent="0">
              <a:buNone/>
            </a:pPr>
            <a:r>
              <a:rPr lang="en-US" sz="2400" b="1" dirty="0">
                <a:solidFill>
                  <a:srgbClr val="00B4A6"/>
                </a:solidFill>
              </a:rPr>
              <a:t>Over 500,000+</a:t>
            </a:r>
            <a:endParaRPr lang="en-US" sz="2400" dirty="0"/>
          </a:p>
        </p:txBody>
      </p:sp>
      <p:sp>
        <p:nvSpPr>
          <p:cNvPr id="26" name="Text 15">
            <a:extLst>
              <a:ext uri="{FF2B5EF4-FFF2-40B4-BE49-F238E27FC236}">
                <a16:creationId xmlns:a16="http://schemas.microsoft.com/office/drawing/2014/main" id="{5C89107C-807E-D8A3-EAF3-661BA604D455}"/>
              </a:ext>
            </a:extLst>
          </p:cNvPr>
          <p:cNvSpPr/>
          <p:nvPr/>
        </p:nvSpPr>
        <p:spPr>
          <a:xfrm>
            <a:off x="4251960" y="2557771"/>
            <a:ext cx="3017520" cy="274320"/>
          </a:xfrm>
          <a:prstGeom prst="rect">
            <a:avLst/>
          </a:prstGeom>
          <a:noFill/>
          <a:ln/>
        </p:spPr>
        <p:txBody>
          <a:bodyPr wrap="square" rtlCol="0" anchor="ctr"/>
          <a:lstStyle/>
          <a:p>
            <a:pPr marL="0" indent="0">
              <a:buNone/>
            </a:pPr>
            <a:r>
              <a:rPr lang="en-US" sz="1100" dirty="0">
                <a:solidFill>
                  <a:srgbClr val="64748B"/>
                </a:solidFill>
              </a:rPr>
              <a:t>Total Size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D4C6F4A3-3D66-6F88-F354-E7C22524E84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9711C33-87D3-D8A3-3406-D36967876312}"/>
              </a:ext>
            </a:extLst>
          </p:cNvPr>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a:extLst>
              <a:ext uri="{FF2B5EF4-FFF2-40B4-BE49-F238E27FC236}">
                <a16:creationId xmlns:a16="http://schemas.microsoft.com/office/drawing/2014/main" id="{7001C4BA-393B-FD52-45FC-CA38364DE54D}"/>
              </a:ext>
            </a:extLst>
          </p:cNvPr>
          <p:cNvSpPr/>
          <p:nvPr/>
        </p:nvSpPr>
        <p:spPr>
          <a:xfrm>
            <a:off x="256032" y="182880"/>
            <a:ext cx="8631936" cy="640080"/>
          </a:xfrm>
          <a:prstGeom prst="rect">
            <a:avLst/>
          </a:prstGeom>
          <a:solidFill>
            <a:srgbClr val="00B4A6"/>
          </a:solidFill>
          <a:ln w="12700">
            <a:solidFill>
              <a:srgbClr val="00B4A6"/>
            </a:solidFill>
            <a:prstDash val="solid"/>
          </a:ln>
        </p:spPr>
        <p:txBody>
          <a:bodyPr/>
          <a:lstStyle/>
          <a:p>
            <a:endParaRPr lang="en-US"/>
          </a:p>
        </p:txBody>
      </p:sp>
      <p:sp>
        <p:nvSpPr>
          <p:cNvPr id="4" name="Text 2">
            <a:extLst>
              <a:ext uri="{FF2B5EF4-FFF2-40B4-BE49-F238E27FC236}">
                <a16:creationId xmlns:a16="http://schemas.microsoft.com/office/drawing/2014/main" id="{A00F13B8-94C3-8355-E176-50ADF4B50256}"/>
              </a:ext>
            </a:extLst>
          </p:cNvPr>
          <p:cNvSpPr/>
          <p:nvPr/>
        </p:nvSpPr>
        <p:spPr>
          <a:xfrm>
            <a:off x="256032" y="182880"/>
            <a:ext cx="8631936" cy="640080"/>
          </a:xfrm>
          <a:prstGeom prst="rect">
            <a:avLst/>
          </a:prstGeom>
          <a:noFill/>
          <a:ln/>
        </p:spPr>
        <p:txBody>
          <a:bodyPr wrap="square" lIns="0" tIns="203200" rIns="0" bIns="0" rtlCol="0" anchor="ctr"/>
          <a:lstStyle/>
          <a:p>
            <a:pPr marL="0" indent="0" algn="l">
              <a:buNone/>
            </a:pPr>
            <a:r>
              <a:rPr lang="en-US" sz="1800" b="1" dirty="0">
                <a:solidFill>
                  <a:srgbClr val="FFFFFF"/>
                </a:solidFill>
              </a:rPr>
              <a:t>The Dataset</a:t>
            </a:r>
            <a:endParaRPr lang="en-US" sz="1800" dirty="0"/>
          </a:p>
        </p:txBody>
      </p:sp>
      <p:sp>
        <p:nvSpPr>
          <p:cNvPr id="5" name="Text 3">
            <a:extLst>
              <a:ext uri="{FF2B5EF4-FFF2-40B4-BE49-F238E27FC236}">
                <a16:creationId xmlns:a16="http://schemas.microsoft.com/office/drawing/2014/main" id="{FA95A365-DB72-187E-7EFD-13B77457A6E6}"/>
              </a:ext>
            </a:extLst>
          </p:cNvPr>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5 / 18</a:t>
            </a:r>
            <a:endParaRPr lang="en-US" sz="800" dirty="0"/>
          </a:p>
        </p:txBody>
      </p:sp>
      <p:sp>
        <p:nvSpPr>
          <p:cNvPr id="18" name="Text 16">
            <a:extLst>
              <a:ext uri="{FF2B5EF4-FFF2-40B4-BE49-F238E27FC236}">
                <a16:creationId xmlns:a16="http://schemas.microsoft.com/office/drawing/2014/main" id="{A058109F-AE05-EE9E-EE87-26465488E71F}"/>
              </a:ext>
            </a:extLst>
          </p:cNvPr>
          <p:cNvSpPr/>
          <p:nvPr/>
        </p:nvSpPr>
        <p:spPr>
          <a:xfrm>
            <a:off x="521208" y="4605148"/>
            <a:ext cx="3474720" cy="365760"/>
          </a:xfrm>
          <a:prstGeom prst="rect">
            <a:avLst/>
          </a:prstGeom>
          <a:noFill/>
          <a:ln/>
        </p:spPr>
        <p:txBody>
          <a:bodyPr wrap="square" rtlCol="0" anchor="ctr"/>
          <a:lstStyle/>
          <a:p>
            <a:pPr marL="0" indent="0">
              <a:buNone/>
            </a:pPr>
            <a:r>
              <a:rPr lang="en-US" sz="1000" b="1" dirty="0">
                <a:solidFill>
                  <a:srgbClr val="0A1628"/>
                </a:solidFill>
              </a:rPr>
              <a:t>Source: </a:t>
            </a:r>
            <a:r>
              <a:rPr lang="en-US" sz="1000" b="0" i="0" dirty="0">
                <a:solidFill>
                  <a:srgbClr val="1F2328"/>
                </a:solidFill>
                <a:effectLst/>
                <a:latin typeface="Mona Sans VF"/>
              </a:rPr>
              <a:t>COVID-19 Open Research Dataset (CORD-19)</a:t>
            </a:r>
            <a:endParaRPr lang="en-US" sz="1000" dirty="0"/>
          </a:p>
        </p:txBody>
      </p:sp>
      <p:pic>
        <p:nvPicPr>
          <p:cNvPr id="22" name="Image 21">
            <a:extLst>
              <a:ext uri="{FF2B5EF4-FFF2-40B4-BE49-F238E27FC236}">
                <a16:creationId xmlns:a16="http://schemas.microsoft.com/office/drawing/2014/main" id="{C05AE7EA-B4B1-DC99-A0AF-AA5031EE7A17}"/>
              </a:ext>
            </a:extLst>
          </p:cNvPr>
          <p:cNvPicPr>
            <a:picLocks noChangeAspect="1"/>
          </p:cNvPicPr>
          <p:nvPr/>
        </p:nvPicPr>
        <p:blipFill>
          <a:blip r:embed="rId3"/>
          <a:stretch>
            <a:fillRect/>
          </a:stretch>
        </p:blipFill>
        <p:spPr>
          <a:xfrm>
            <a:off x="693168" y="1276977"/>
            <a:ext cx="7867595" cy="2131031"/>
          </a:xfrm>
          <a:prstGeom prst="rect">
            <a:avLst/>
          </a:prstGeom>
        </p:spPr>
      </p:pic>
    </p:spTree>
    <p:extLst>
      <p:ext uri="{BB962C8B-B14F-4D97-AF65-F5344CB8AC3E}">
        <p14:creationId xmlns:p14="http://schemas.microsoft.com/office/powerpoint/2010/main" val="1608571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FC2D24D-DBC2-F137-8B9E-BF553FFCA4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1528" y="1165860"/>
            <a:ext cx="5347880" cy="2926081"/>
          </a:xfrm>
          <a:prstGeom prst="rect">
            <a:avLst/>
          </a:prstGeom>
          <a:noFill/>
          <a:extLst>
            <a:ext uri="{909E8E84-426E-40DD-AFC4-6F175D3DCCD1}">
              <a14:hiddenFill xmlns:a14="http://schemas.microsoft.com/office/drawing/2010/main">
                <a:solidFill>
                  <a:srgbClr val="FFFFFF"/>
                </a:solidFill>
              </a14:hiddenFill>
            </a:ext>
          </a:extLst>
        </p:spPr>
      </p:pic>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8631936" cy="640080"/>
          </a:xfrm>
          <a:prstGeom prst="rect">
            <a:avLst/>
          </a:prstGeom>
          <a:solidFill>
            <a:srgbClr val="00B4A6"/>
          </a:solidFill>
          <a:ln w="12700">
            <a:solidFill>
              <a:srgbClr val="00B4A6"/>
            </a:solidFill>
            <a:prstDash val="solid"/>
          </a:ln>
        </p:spPr>
        <p:txBody>
          <a:bodyPr/>
          <a:lstStyle/>
          <a:p>
            <a:endParaRPr lang="en-US"/>
          </a:p>
        </p:txBody>
      </p:sp>
      <p:sp>
        <p:nvSpPr>
          <p:cNvPr id="4" name="Text 2"/>
          <p:cNvSpPr/>
          <p:nvPr/>
        </p:nvSpPr>
        <p:spPr>
          <a:xfrm>
            <a:off x="256032" y="182880"/>
            <a:ext cx="8631936" cy="640080"/>
          </a:xfrm>
          <a:prstGeom prst="rect">
            <a:avLst/>
          </a:prstGeom>
          <a:noFill/>
          <a:ln/>
        </p:spPr>
        <p:txBody>
          <a:bodyPr wrap="square" lIns="0" tIns="203200" rIns="0" bIns="0" rtlCol="0" anchor="ctr"/>
          <a:lstStyle/>
          <a:p>
            <a:pPr marL="0" indent="0" algn="l">
              <a:buNone/>
            </a:pPr>
            <a:r>
              <a:rPr lang="en-US" sz="1800" b="1" dirty="0">
                <a:solidFill>
                  <a:srgbClr val="FFFFFF"/>
                </a:solidFill>
              </a:rPr>
              <a:t>EDA — Word Count Distribution</a:t>
            </a:r>
            <a:endParaRPr lang="en-US" sz="1800" dirty="0"/>
          </a:p>
        </p:txBody>
      </p:sp>
      <p:sp>
        <p:nvSpPr>
          <p:cNvPr id="5" name="Text 3"/>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6 / 18</a:t>
            </a:r>
            <a:endParaRPr lang="en-US" sz="800" dirty="0"/>
          </a:p>
        </p:txBody>
      </p:sp>
      <p:sp>
        <p:nvSpPr>
          <p:cNvPr id="6" name="Text 4"/>
          <p:cNvSpPr/>
          <p:nvPr/>
        </p:nvSpPr>
        <p:spPr>
          <a:xfrm>
            <a:off x="256032" y="1051560"/>
            <a:ext cx="3566160" cy="2926080"/>
          </a:xfrm>
          <a:prstGeom prst="rect">
            <a:avLst/>
          </a:prstGeom>
          <a:noFill/>
          <a:ln/>
        </p:spPr>
        <p:txBody>
          <a:bodyPr wrap="square" rtlCol="0" anchor="ctr"/>
          <a:lstStyle/>
          <a:p>
            <a:pPr marL="342900" indent="-342900">
              <a:spcAft>
                <a:spcPts val="800"/>
              </a:spcAft>
              <a:buSzPct val="100000"/>
              <a:buChar char="•"/>
            </a:pPr>
            <a:r>
              <a:rPr lang="en-US" sz="1300" dirty="0">
                <a:solidFill>
                  <a:srgbClr val="0A1628"/>
                </a:solidFill>
              </a:rPr>
              <a:t>Median abstract: ~250 words</a:t>
            </a:r>
            <a:endParaRPr lang="en-US" sz="1300" dirty="0"/>
          </a:p>
          <a:p>
            <a:pPr marL="342900" indent="-342900">
              <a:spcAft>
                <a:spcPts val="800"/>
              </a:spcAft>
              <a:buSzPct val="100000"/>
              <a:buChar char="•"/>
            </a:pPr>
            <a:r>
              <a:rPr lang="en-US" sz="1300" dirty="0">
                <a:solidFill>
                  <a:srgbClr val="0A1628"/>
                </a:solidFill>
              </a:rPr>
              <a:t>Long tail: some &gt; 500 words</a:t>
            </a:r>
            <a:endParaRPr lang="en-US" sz="1300" dirty="0"/>
          </a:p>
          <a:p>
            <a:pPr marL="342900" indent="-342900">
              <a:spcAft>
                <a:spcPts val="800"/>
              </a:spcAft>
              <a:buSzPct val="100000"/>
              <a:buChar char="•"/>
            </a:pPr>
            <a:r>
              <a:rPr lang="en-US" sz="1300" dirty="0">
                <a:solidFill>
                  <a:srgbClr val="0A1628"/>
                </a:solidFill>
              </a:rPr>
              <a:t>Short papers &lt; 30 words (mostly missing data or Title-only entries).</a:t>
            </a:r>
          </a:p>
          <a:p>
            <a:pPr marL="342900" indent="-342900">
              <a:spcAft>
                <a:spcPts val="800"/>
              </a:spcAft>
              <a:buSzPct val="100000"/>
              <a:buChar char="•"/>
            </a:pPr>
            <a:r>
              <a:rPr lang="en-US" sz="1300" dirty="0">
                <a:solidFill>
                  <a:srgbClr val="0A1628"/>
                </a:solidFill>
              </a:rPr>
              <a:t>Outliers flagged &amp; removed</a:t>
            </a:r>
            <a:endParaRPr lang="en-US" sz="1300" dirty="0"/>
          </a:p>
        </p:txBody>
      </p:sp>
      <p:sp>
        <p:nvSpPr>
          <p:cNvPr id="7" name="Shape 5"/>
          <p:cNvSpPr/>
          <p:nvPr/>
        </p:nvSpPr>
        <p:spPr>
          <a:xfrm>
            <a:off x="256032" y="3749040"/>
            <a:ext cx="3566160" cy="822960"/>
          </a:xfrm>
          <a:prstGeom prst="rect">
            <a:avLst/>
          </a:prstGeom>
          <a:solidFill>
            <a:srgbClr val="00B4A6">
              <a:alpha val="90000"/>
            </a:srgbClr>
          </a:solidFill>
          <a:ln w="12700">
            <a:solidFill>
              <a:srgbClr val="00B4A6"/>
            </a:solidFill>
            <a:prstDash val="solid"/>
          </a:ln>
        </p:spPr>
        <p:txBody>
          <a:bodyPr/>
          <a:lstStyle/>
          <a:p>
            <a:endParaRPr lang="en-US"/>
          </a:p>
        </p:txBody>
      </p:sp>
      <p:sp>
        <p:nvSpPr>
          <p:cNvPr id="8" name="Text 6"/>
          <p:cNvSpPr/>
          <p:nvPr/>
        </p:nvSpPr>
        <p:spPr>
          <a:xfrm>
            <a:off x="256032" y="3749040"/>
            <a:ext cx="3566160" cy="822960"/>
          </a:xfrm>
          <a:prstGeom prst="rect">
            <a:avLst/>
          </a:prstGeom>
          <a:noFill/>
          <a:ln/>
        </p:spPr>
        <p:txBody>
          <a:bodyPr wrap="square" rtlCol="0" anchor="ctr"/>
          <a:lstStyle/>
          <a:p>
            <a:pPr marL="0" indent="0" algn="ctr">
              <a:buNone/>
            </a:pPr>
            <a:r>
              <a:rPr lang="en-US" sz="1400" b="1" dirty="0">
                <a:solidFill>
                  <a:srgbClr val="FFFFFF"/>
                </a:solidFill>
              </a:rPr>
              <a:t>Total Tokens Analysed: ~~2.5 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8631936" cy="640080"/>
          </a:xfrm>
          <a:prstGeom prst="rect">
            <a:avLst/>
          </a:prstGeom>
          <a:solidFill>
            <a:srgbClr val="00B4A6"/>
          </a:solidFill>
          <a:ln w="12700">
            <a:solidFill>
              <a:srgbClr val="00B4A6"/>
            </a:solidFill>
            <a:prstDash val="solid"/>
          </a:ln>
        </p:spPr>
        <p:txBody>
          <a:bodyPr/>
          <a:lstStyle/>
          <a:p>
            <a:endParaRPr lang="en-US"/>
          </a:p>
        </p:txBody>
      </p:sp>
      <p:sp>
        <p:nvSpPr>
          <p:cNvPr id="4" name="Text 2"/>
          <p:cNvSpPr/>
          <p:nvPr/>
        </p:nvSpPr>
        <p:spPr>
          <a:xfrm>
            <a:off x="256032" y="182880"/>
            <a:ext cx="8631936" cy="640080"/>
          </a:xfrm>
          <a:prstGeom prst="rect">
            <a:avLst/>
          </a:prstGeom>
          <a:noFill/>
          <a:ln/>
        </p:spPr>
        <p:txBody>
          <a:bodyPr wrap="square" lIns="0" tIns="203200" rIns="0" bIns="0" rtlCol="0" anchor="ctr"/>
          <a:lstStyle/>
          <a:p>
            <a:pPr marL="0" indent="0" algn="l">
              <a:buNone/>
            </a:pPr>
            <a:r>
              <a:rPr lang="en-US" sz="1800" b="1" dirty="0">
                <a:solidFill>
                  <a:srgbClr val="FFFFFF"/>
                </a:solidFill>
              </a:rPr>
              <a:t>EDA — Most Frequent Terms</a:t>
            </a:r>
            <a:endParaRPr lang="en-US" sz="1800" dirty="0"/>
          </a:p>
        </p:txBody>
      </p:sp>
      <p:sp>
        <p:nvSpPr>
          <p:cNvPr id="5" name="Text 3"/>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7 / 18</a:t>
            </a:r>
            <a:endParaRPr lang="en-US" sz="800" dirty="0"/>
          </a:p>
        </p:txBody>
      </p:sp>
      <p:sp>
        <p:nvSpPr>
          <p:cNvPr id="6" name="Text 4"/>
          <p:cNvSpPr/>
          <p:nvPr/>
        </p:nvSpPr>
        <p:spPr>
          <a:xfrm>
            <a:off x="256032" y="1051560"/>
            <a:ext cx="3657600" cy="2560320"/>
          </a:xfrm>
          <a:prstGeom prst="rect">
            <a:avLst/>
          </a:prstGeom>
          <a:noFill/>
          <a:ln/>
        </p:spPr>
        <p:txBody>
          <a:bodyPr wrap="square" rtlCol="0" anchor="ctr"/>
          <a:lstStyle/>
          <a:p>
            <a:pPr marL="342900" indent="-342900">
              <a:spcAft>
                <a:spcPts val="800"/>
              </a:spcAft>
              <a:buSzPct val="100000"/>
              <a:buChar char="•"/>
            </a:pPr>
            <a:r>
              <a:rPr lang="en-US" sz="1200" dirty="0">
                <a:solidFill>
                  <a:srgbClr val="0A1628"/>
                </a:solidFill>
              </a:rPr>
              <a:t>'Patients' appears in 78% of abstracts</a:t>
            </a:r>
            <a:endParaRPr lang="en-US" sz="1200" dirty="0"/>
          </a:p>
          <a:p>
            <a:pPr marL="342900" indent="-342900">
              <a:spcAft>
                <a:spcPts val="800"/>
              </a:spcAft>
              <a:buSzPct val="100000"/>
              <a:buChar char="•"/>
            </a:pPr>
            <a:r>
              <a:rPr lang="en-US" sz="1200" dirty="0">
                <a:solidFill>
                  <a:srgbClr val="0A1628"/>
                </a:solidFill>
              </a:rPr>
              <a:t>Clinical terms dominate top-20</a:t>
            </a:r>
            <a:endParaRPr lang="en-US" sz="1200" dirty="0"/>
          </a:p>
          <a:p>
            <a:pPr marL="342900" indent="-342900">
              <a:spcAft>
                <a:spcPts val="800"/>
              </a:spcAft>
              <a:buSzPct val="100000"/>
              <a:buChar char="•"/>
            </a:pPr>
            <a:r>
              <a:rPr lang="en-US" sz="1200" dirty="0">
                <a:solidFill>
                  <a:srgbClr val="0A1628"/>
                </a:solidFill>
              </a:rPr>
              <a:t>Stop-words inflate counts pre-cleaning</a:t>
            </a:r>
            <a:endParaRPr lang="en-US" sz="1200" dirty="0"/>
          </a:p>
          <a:p>
            <a:pPr marL="342900" indent="-342900">
              <a:spcAft>
                <a:spcPts val="800"/>
              </a:spcAft>
              <a:buSzPct val="100000"/>
              <a:buChar char="•"/>
            </a:pPr>
            <a:r>
              <a:rPr lang="en-US" sz="1200" dirty="0">
                <a:solidFill>
                  <a:srgbClr val="0A1628"/>
                </a:solidFill>
              </a:rPr>
              <a:t>Post-cleaning: virus, cells, immune lead</a:t>
            </a:r>
            <a:endParaRPr lang="en-US" sz="1200" dirty="0"/>
          </a:p>
        </p:txBody>
      </p:sp>
      <p:sp>
        <p:nvSpPr>
          <p:cNvPr id="7" name="Text 5"/>
          <p:cNvSpPr/>
          <p:nvPr/>
        </p:nvSpPr>
        <p:spPr>
          <a:xfrm>
            <a:off x="481115" y="3931920"/>
            <a:ext cx="3657600" cy="822960"/>
          </a:xfrm>
          <a:prstGeom prst="rect">
            <a:avLst/>
          </a:prstGeom>
          <a:noFill/>
          <a:ln/>
        </p:spPr>
        <p:txBody>
          <a:bodyPr wrap="square" rtlCol="0" anchor="t"/>
          <a:lstStyle/>
          <a:p>
            <a:pPr marL="0" indent="0" algn="l">
              <a:buNone/>
            </a:pPr>
            <a:r>
              <a:rPr lang="en-US" sz="1000" i="1" dirty="0">
                <a:solidFill>
                  <a:srgbClr val="FF6B35"/>
                </a:solidFill>
              </a:rPr>
              <a:t>⚠  Before-cleaning vs After-cleaning</a:t>
            </a:r>
            <a:endParaRPr lang="en-US" sz="1000" dirty="0"/>
          </a:p>
          <a:p>
            <a:pPr marL="0" indent="0" algn="l">
              <a:buNone/>
            </a:pPr>
            <a:r>
              <a:rPr lang="en-US" sz="1000" i="1" dirty="0">
                <a:solidFill>
                  <a:srgbClr val="FF6B35"/>
                </a:solidFill>
              </a:rPr>
              <a:t>frequency shift is significant.</a:t>
            </a:r>
            <a:endParaRPr lang="en-US" sz="1000" dirty="0"/>
          </a:p>
        </p:txBody>
      </p:sp>
      <p:pic>
        <p:nvPicPr>
          <p:cNvPr id="2052" name="Picture 4">
            <a:extLst>
              <a:ext uri="{FF2B5EF4-FFF2-40B4-BE49-F238E27FC236}">
                <a16:creationId xmlns:a16="http://schemas.microsoft.com/office/drawing/2014/main" id="{B3399B52-A34B-521F-FDAF-076F9308EF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6560" y="1127164"/>
            <a:ext cx="5745999" cy="29647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8631936" cy="640080"/>
          </a:xfrm>
          <a:prstGeom prst="rect">
            <a:avLst/>
          </a:prstGeom>
          <a:solidFill>
            <a:srgbClr val="00B4A6"/>
          </a:solidFill>
          <a:ln w="12700">
            <a:solidFill>
              <a:srgbClr val="00B4A6"/>
            </a:solidFill>
            <a:prstDash val="solid"/>
          </a:ln>
        </p:spPr>
        <p:txBody>
          <a:bodyPr/>
          <a:lstStyle/>
          <a:p>
            <a:endParaRPr lang="en-US"/>
          </a:p>
        </p:txBody>
      </p:sp>
      <p:sp>
        <p:nvSpPr>
          <p:cNvPr id="4" name="Text 2"/>
          <p:cNvSpPr/>
          <p:nvPr/>
        </p:nvSpPr>
        <p:spPr>
          <a:xfrm>
            <a:off x="256032" y="182880"/>
            <a:ext cx="8631936" cy="640080"/>
          </a:xfrm>
          <a:prstGeom prst="rect">
            <a:avLst/>
          </a:prstGeom>
          <a:noFill/>
          <a:ln/>
        </p:spPr>
        <p:txBody>
          <a:bodyPr wrap="square" lIns="0" tIns="203200" rIns="0" bIns="0" rtlCol="0" anchor="ctr"/>
          <a:lstStyle/>
          <a:p>
            <a:pPr marL="0" indent="0" algn="l">
              <a:buNone/>
            </a:pPr>
            <a:r>
              <a:rPr lang="en-US" sz="1800" b="1" dirty="0">
                <a:solidFill>
                  <a:srgbClr val="FFFFFF"/>
                </a:solidFill>
              </a:rPr>
              <a:t>EDA — Visualising Themes with WordCloud</a:t>
            </a:r>
            <a:endParaRPr lang="en-US" sz="1800" dirty="0"/>
          </a:p>
        </p:txBody>
      </p:sp>
      <p:sp>
        <p:nvSpPr>
          <p:cNvPr id="5" name="Text 3"/>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8 / 18</a:t>
            </a:r>
            <a:endParaRPr lang="en-US" sz="800" dirty="0"/>
          </a:p>
        </p:txBody>
      </p:sp>
      <p:sp>
        <p:nvSpPr>
          <p:cNvPr id="6" name="Text 4"/>
          <p:cNvSpPr/>
          <p:nvPr/>
        </p:nvSpPr>
        <p:spPr>
          <a:xfrm>
            <a:off x="256032" y="1005840"/>
            <a:ext cx="4114800" cy="320040"/>
          </a:xfrm>
          <a:prstGeom prst="rect">
            <a:avLst/>
          </a:prstGeom>
          <a:noFill/>
          <a:ln/>
        </p:spPr>
        <p:txBody>
          <a:bodyPr wrap="square" rtlCol="0" anchor="ctr"/>
          <a:lstStyle/>
          <a:p>
            <a:pPr marL="0" indent="0" algn="ctr">
              <a:buNone/>
            </a:pPr>
            <a:r>
              <a:rPr lang="en-US" sz="1200" b="1" dirty="0">
                <a:solidFill>
                  <a:srgbClr val="FF6B35"/>
                </a:solidFill>
              </a:rPr>
              <a:t>BEFORE Cleaning</a:t>
            </a:r>
            <a:endParaRPr lang="en-US" sz="1200" dirty="0"/>
          </a:p>
        </p:txBody>
      </p:sp>
      <p:sp>
        <p:nvSpPr>
          <p:cNvPr id="9" name="Text 7"/>
          <p:cNvSpPr/>
          <p:nvPr/>
        </p:nvSpPr>
        <p:spPr>
          <a:xfrm>
            <a:off x="4773168" y="1005840"/>
            <a:ext cx="4114800" cy="320040"/>
          </a:xfrm>
          <a:prstGeom prst="rect">
            <a:avLst/>
          </a:prstGeom>
          <a:noFill/>
          <a:ln/>
        </p:spPr>
        <p:txBody>
          <a:bodyPr wrap="square" rtlCol="0" anchor="ctr"/>
          <a:lstStyle/>
          <a:p>
            <a:pPr marL="0" indent="0" algn="ctr">
              <a:buNone/>
            </a:pPr>
            <a:r>
              <a:rPr lang="en-US" sz="1200" b="1" dirty="0">
                <a:solidFill>
                  <a:srgbClr val="00B4A6"/>
                </a:solidFill>
              </a:rPr>
              <a:t>AFTER Cleaning</a:t>
            </a:r>
            <a:endParaRPr lang="en-US" sz="1200" dirty="0"/>
          </a:p>
        </p:txBody>
      </p:sp>
      <p:sp>
        <p:nvSpPr>
          <p:cNvPr id="12" name="Text 10"/>
          <p:cNvSpPr/>
          <p:nvPr/>
        </p:nvSpPr>
        <p:spPr>
          <a:xfrm>
            <a:off x="256032" y="4480560"/>
            <a:ext cx="8631936" cy="365760"/>
          </a:xfrm>
          <a:prstGeom prst="rect">
            <a:avLst/>
          </a:prstGeom>
          <a:noFill/>
          <a:ln/>
        </p:spPr>
        <p:txBody>
          <a:bodyPr wrap="square" rtlCol="0" anchor="ctr"/>
          <a:lstStyle/>
          <a:p>
            <a:pPr marL="0" indent="0" algn="ctr">
              <a:buNone/>
            </a:pPr>
            <a:r>
              <a:rPr lang="en-US" sz="1200" b="1" i="1" dirty="0">
                <a:solidFill>
                  <a:srgbClr val="00B4A6"/>
                </a:solidFill>
              </a:rPr>
              <a:t>→  Stop-word removal reveals true biomedical vocabulary</a:t>
            </a:r>
            <a:endParaRPr lang="en-US" sz="1200" dirty="0"/>
          </a:p>
        </p:txBody>
      </p:sp>
      <p:sp>
        <p:nvSpPr>
          <p:cNvPr id="14" name="ZoneTexte 13">
            <a:extLst>
              <a:ext uri="{FF2B5EF4-FFF2-40B4-BE49-F238E27FC236}">
                <a16:creationId xmlns:a16="http://schemas.microsoft.com/office/drawing/2014/main" id="{F7C98F96-26E2-AD93-5021-A27E47E5AE0D}"/>
              </a:ext>
            </a:extLst>
          </p:cNvPr>
          <p:cNvSpPr txBox="1"/>
          <p:nvPr/>
        </p:nvSpPr>
        <p:spPr>
          <a:xfrm>
            <a:off x="637619" y="1699291"/>
            <a:ext cx="3733213" cy="2031325"/>
          </a:xfrm>
          <a:prstGeom prst="rect">
            <a:avLst/>
          </a:prstGeom>
          <a:noFill/>
        </p:spPr>
        <p:txBody>
          <a:bodyPr wrap="square">
            <a:spAutoFit/>
          </a:bodyPr>
          <a:lstStyle/>
          <a:p>
            <a:r>
              <a:rPr lang="en-US" dirty="0"/>
              <a:t>Generated from 1.2M cleaned tokens.</a:t>
            </a:r>
          </a:p>
          <a:p>
            <a:r>
              <a:rPr lang="en-US" dirty="0"/>
              <a:t>Stop-words and academic jargon removed.</a:t>
            </a:r>
          </a:p>
          <a:p>
            <a:r>
              <a:rPr lang="en-US" dirty="0"/>
              <a:t>Highlights dominant medical concepts at a glance.</a:t>
            </a:r>
          </a:p>
          <a:p>
            <a:r>
              <a:rPr lang="en-US" dirty="0"/>
              <a:t>Shows strong emphasis on virology and patient care.</a:t>
            </a:r>
          </a:p>
        </p:txBody>
      </p:sp>
      <p:pic>
        <p:nvPicPr>
          <p:cNvPr id="3074" name="Picture 2">
            <a:extLst>
              <a:ext uri="{FF2B5EF4-FFF2-40B4-BE49-F238E27FC236}">
                <a16:creationId xmlns:a16="http://schemas.microsoft.com/office/drawing/2014/main" id="{09390DA4-7D85-4F77-53AE-7A1A90EAC2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0884" y="1698300"/>
            <a:ext cx="4001078" cy="21193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1371600" cy="640080"/>
          </a:xfrm>
          <a:prstGeom prst="rect">
            <a:avLst/>
          </a:prstGeom>
          <a:solidFill>
            <a:srgbClr val="22C55E"/>
          </a:solidFill>
          <a:ln w="12700">
            <a:solidFill>
              <a:srgbClr val="22C55E"/>
            </a:solidFill>
            <a:prstDash val="solid"/>
          </a:ln>
        </p:spPr>
        <p:txBody>
          <a:bodyPr/>
          <a:lstStyle/>
          <a:p>
            <a:endParaRPr lang="en-US"/>
          </a:p>
        </p:txBody>
      </p:sp>
      <p:sp>
        <p:nvSpPr>
          <p:cNvPr id="4" name="Text 2"/>
          <p:cNvSpPr/>
          <p:nvPr/>
        </p:nvSpPr>
        <p:spPr>
          <a:xfrm>
            <a:off x="256032" y="182880"/>
            <a:ext cx="1371600" cy="640080"/>
          </a:xfrm>
          <a:prstGeom prst="rect">
            <a:avLst/>
          </a:prstGeom>
          <a:noFill/>
          <a:ln/>
        </p:spPr>
        <p:txBody>
          <a:bodyPr wrap="square" rtlCol="0" anchor="ctr"/>
          <a:lstStyle/>
          <a:p>
            <a:pPr marL="0" indent="0" algn="ctr">
              <a:buNone/>
            </a:pPr>
            <a:r>
              <a:rPr lang="en-US" sz="1000" b="1" kern="0" spc="100" dirty="0">
                <a:solidFill>
                  <a:srgbClr val="FFFFFF"/>
                </a:solidFill>
              </a:rPr>
              <a:t>PHASE 1</a:t>
            </a:r>
            <a:endParaRPr lang="en-US" sz="1000" dirty="0"/>
          </a:p>
        </p:txBody>
      </p:sp>
      <p:sp>
        <p:nvSpPr>
          <p:cNvPr id="5" name="Text 3"/>
          <p:cNvSpPr/>
          <p:nvPr/>
        </p:nvSpPr>
        <p:spPr>
          <a:xfrm>
            <a:off x="1737360" y="201168"/>
            <a:ext cx="6400800" cy="603504"/>
          </a:xfrm>
          <a:prstGeom prst="rect">
            <a:avLst/>
          </a:prstGeom>
          <a:noFill/>
          <a:ln/>
        </p:spPr>
        <p:txBody>
          <a:bodyPr wrap="square" rtlCol="0" anchor="ctr"/>
          <a:lstStyle/>
          <a:p>
            <a:pPr marL="0" indent="0" algn="l">
              <a:buNone/>
            </a:pPr>
            <a:r>
              <a:rPr lang="en-US" sz="1800" b="1" dirty="0">
                <a:solidFill>
                  <a:srgbClr val="0A1628"/>
                </a:solidFill>
              </a:rPr>
              <a:t>NLTK Text Cleaning</a:t>
            </a:r>
            <a:endParaRPr lang="en-US" sz="1800" dirty="0"/>
          </a:p>
        </p:txBody>
      </p:sp>
      <p:sp>
        <p:nvSpPr>
          <p:cNvPr id="6" name="Text 4"/>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9 / 18</a:t>
            </a:r>
            <a:endParaRPr lang="en-US" sz="800" dirty="0"/>
          </a:p>
        </p:txBody>
      </p:sp>
      <p:sp>
        <p:nvSpPr>
          <p:cNvPr id="7" name="Text 5"/>
          <p:cNvSpPr/>
          <p:nvPr/>
        </p:nvSpPr>
        <p:spPr>
          <a:xfrm>
            <a:off x="256032" y="1005840"/>
            <a:ext cx="3840480" cy="2286000"/>
          </a:xfrm>
          <a:prstGeom prst="rect">
            <a:avLst/>
          </a:prstGeom>
          <a:noFill/>
          <a:ln/>
        </p:spPr>
        <p:txBody>
          <a:bodyPr wrap="square" rtlCol="0" anchor="ctr"/>
          <a:lstStyle/>
          <a:p>
            <a:pPr marL="342900" indent="-342900">
              <a:spcAft>
                <a:spcPts val="800"/>
              </a:spcAft>
              <a:buSzPct val="100000"/>
              <a:buChar char="•"/>
            </a:pPr>
            <a:r>
              <a:rPr lang="en-US" sz="1200" dirty="0">
                <a:solidFill>
                  <a:srgbClr val="0A1628"/>
                </a:solidFill>
              </a:rPr>
              <a:t>Lowercase → tokenise → remove stop-words</a:t>
            </a:r>
            <a:endParaRPr lang="en-US" sz="1200" dirty="0"/>
          </a:p>
          <a:p>
            <a:pPr marL="342900" indent="-342900">
              <a:spcAft>
                <a:spcPts val="800"/>
              </a:spcAft>
              <a:buSzPct val="100000"/>
              <a:buChar char="•"/>
            </a:pPr>
            <a:r>
              <a:rPr lang="en-US" sz="1200" dirty="0">
                <a:solidFill>
                  <a:srgbClr val="0A1628"/>
                </a:solidFill>
              </a:rPr>
              <a:t>Regex strips punctuation &amp; numbers</a:t>
            </a:r>
            <a:endParaRPr lang="en-US" sz="1200" dirty="0"/>
          </a:p>
          <a:p>
            <a:pPr marL="342900" indent="-342900">
              <a:spcAft>
                <a:spcPts val="800"/>
              </a:spcAft>
              <a:buSzPct val="100000"/>
              <a:buChar char="•"/>
            </a:pPr>
            <a:r>
              <a:rPr lang="en-US" sz="1200" dirty="0">
                <a:solidFill>
                  <a:srgbClr val="0A1628"/>
                </a:solidFill>
              </a:rPr>
              <a:t>WordNetLemmatizer reduces inflections</a:t>
            </a:r>
            <a:endParaRPr lang="en-US" sz="1200" dirty="0"/>
          </a:p>
          <a:p>
            <a:pPr marL="342900" indent="-342900">
              <a:spcAft>
                <a:spcPts val="800"/>
              </a:spcAft>
              <a:buSzPct val="100000"/>
              <a:buChar char="•"/>
            </a:pPr>
            <a:r>
              <a:rPr lang="en-US" sz="1200" dirty="0">
                <a:solidFill>
                  <a:srgbClr val="0A1628"/>
                </a:solidFill>
              </a:rPr>
              <a:t>Vocabulary shrinks ~40% after cleaning</a:t>
            </a:r>
            <a:endParaRPr lang="en-US" sz="1200" dirty="0"/>
          </a:p>
        </p:txBody>
      </p:sp>
      <p:sp>
        <p:nvSpPr>
          <p:cNvPr id="11" name="Text 9"/>
          <p:cNvSpPr/>
          <p:nvPr/>
        </p:nvSpPr>
        <p:spPr>
          <a:xfrm>
            <a:off x="4297680" y="960120"/>
            <a:ext cx="4572000" cy="3794760"/>
          </a:xfrm>
          <a:prstGeom prst="rect">
            <a:avLst/>
          </a:prstGeom>
          <a:noFill/>
          <a:ln/>
        </p:spPr>
        <p:txBody>
          <a:bodyPr wrap="square" lIns="50800" tIns="50800" rIns="50800" bIns="50800" rtlCol="0" anchor="ctr"/>
          <a:lstStyle/>
          <a:p>
            <a:pPr marL="0" indent="0" algn="ctr">
              <a:buNone/>
            </a:pPr>
            <a:endParaRPr lang="en-US" sz="900" dirty="0"/>
          </a:p>
        </p:txBody>
      </p:sp>
      <p:pic>
        <p:nvPicPr>
          <p:cNvPr id="13" name="Image 12">
            <a:extLst>
              <a:ext uri="{FF2B5EF4-FFF2-40B4-BE49-F238E27FC236}">
                <a16:creationId xmlns:a16="http://schemas.microsoft.com/office/drawing/2014/main" id="{04388A64-9E70-3FAA-E28D-43CDA8D2C380}"/>
              </a:ext>
            </a:extLst>
          </p:cNvPr>
          <p:cNvPicPr>
            <a:picLocks noChangeAspect="1"/>
          </p:cNvPicPr>
          <p:nvPr/>
        </p:nvPicPr>
        <p:blipFill>
          <a:blip r:embed="rId3"/>
          <a:srcRect r="10770"/>
          <a:stretch>
            <a:fillRect/>
          </a:stretch>
        </p:blipFill>
        <p:spPr>
          <a:xfrm>
            <a:off x="3929925" y="1499968"/>
            <a:ext cx="4848315" cy="1417443"/>
          </a:xfrm>
          <a:prstGeom prst="rect">
            <a:avLst/>
          </a:prstGeom>
        </p:spPr>
      </p:pic>
      <p:pic>
        <p:nvPicPr>
          <p:cNvPr id="15" name="Image 14">
            <a:extLst>
              <a:ext uri="{FF2B5EF4-FFF2-40B4-BE49-F238E27FC236}">
                <a16:creationId xmlns:a16="http://schemas.microsoft.com/office/drawing/2014/main" id="{E5B4768A-09FE-D5AC-3FC8-1EE16F8B880A}"/>
              </a:ext>
            </a:extLst>
          </p:cNvPr>
          <p:cNvPicPr>
            <a:picLocks noChangeAspect="1"/>
          </p:cNvPicPr>
          <p:nvPr/>
        </p:nvPicPr>
        <p:blipFill>
          <a:blip r:embed="rId4"/>
          <a:stretch>
            <a:fillRect/>
          </a:stretch>
        </p:blipFill>
        <p:spPr>
          <a:xfrm>
            <a:off x="310896" y="3035745"/>
            <a:ext cx="4055542" cy="17191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1371600" cy="640080"/>
          </a:xfrm>
          <a:prstGeom prst="rect">
            <a:avLst/>
          </a:prstGeom>
          <a:solidFill>
            <a:srgbClr val="FF6B35"/>
          </a:solidFill>
          <a:ln w="12700">
            <a:solidFill>
              <a:srgbClr val="FF6B35"/>
            </a:solidFill>
            <a:prstDash val="solid"/>
          </a:ln>
        </p:spPr>
        <p:txBody>
          <a:bodyPr/>
          <a:lstStyle/>
          <a:p>
            <a:endParaRPr lang="en-US"/>
          </a:p>
        </p:txBody>
      </p:sp>
      <p:sp>
        <p:nvSpPr>
          <p:cNvPr id="4" name="Text 2"/>
          <p:cNvSpPr/>
          <p:nvPr/>
        </p:nvSpPr>
        <p:spPr>
          <a:xfrm>
            <a:off x="256032" y="182880"/>
            <a:ext cx="1371600" cy="640080"/>
          </a:xfrm>
          <a:prstGeom prst="rect">
            <a:avLst/>
          </a:prstGeom>
          <a:noFill/>
          <a:ln/>
        </p:spPr>
        <p:txBody>
          <a:bodyPr wrap="square" rtlCol="0" anchor="ctr"/>
          <a:lstStyle/>
          <a:p>
            <a:pPr marL="0" indent="0" algn="ctr">
              <a:buNone/>
            </a:pPr>
            <a:r>
              <a:rPr lang="en-US" sz="1000" b="1" kern="0" spc="100" dirty="0">
                <a:solidFill>
                  <a:srgbClr val="FFFFFF"/>
                </a:solidFill>
              </a:rPr>
              <a:t>PHASE 2</a:t>
            </a:r>
            <a:endParaRPr lang="en-US" sz="1000" dirty="0"/>
          </a:p>
        </p:txBody>
      </p:sp>
      <p:sp>
        <p:nvSpPr>
          <p:cNvPr id="5" name="Text 3"/>
          <p:cNvSpPr/>
          <p:nvPr/>
        </p:nvSpPr>
        <p:spPr>
          <a:xfrm>
            <a:off x="1737360" y="201168"/>
            <a:ext cx="6949440" cy="603504"/>
          </a:xfrm>
          <a:prstGeom prst="rect">
            <a:avLst/>
          </a:prstGeom>
          <a:noFill/>
          <a:ln/>
        </p:spPr>
        <p:txBody>
          <a:bodyPr wrap="square" rtlCol="0" anchor="ctr"/>
          <a:lstStyle/>
          <a:p>
            <a:pPr marL="0" indent="0" algn="l">
              <a:buNone/>
            </a:pPr>
            <a:r>
              <a:rPr lang="en-US" sz="1800" b="1" dirty="0">
                <a:solidFill>
                  <a:srgbClr val="0A1628"/>
                </a:solidFill>
              </a:rPr>
              <a:t>spaCy Named Entity Recognition</a:t>
            </a:r>
            <a:endParaRPr lang="en-US" sz="1800" dirty="0"/>
          </a:p>
        </p:txBody>
      </p:sp>
      <p:sp>
        <p:nvSpPr>
          <p:cNvPr id="6" name="Text 4"/>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10 / 18</a:t>
            </a:r>
            <a:endParaRPr lang="en-US" sz="800" dirty="0"/>
          </a:p>
        </p:txBody>
      </p:sp>
      <p:sp>
        <p:nvSpPr>
          <p:cNvPr id="7" name="Shape 5"/>
          <p:cNvSpPr/>
          <p:nvPr/>
        </p:nvSpPr>
        <p:spPr>
          <a:xfrm>
            <a:off x="256032" y="1656476"/>
            <a:ext cx="3657600" cy="594360"/>
          </a:xfrm>
          <a:prstGeom prst="rect">
            <a:avLst/>
          </a:prstGeom>
          <a:solidFill>
            <a:srgbClr val="FBBF24">
              <a:alpha val="80000"/>
            </a:srgbClr>
          </a:solidFill>
          <a:ln w="19050">
            <a:solidFill>
              <a:srgbClr val="FBBF24"/>
            </a:solidFill>
            <a:prstDash val="solid"/>
          </a:ln>
        </p:spPr>
        <p:txBody>
          <a:bodyPr/>
          <a:lstStyle/>
          <a:p>
            <a:endParaRPr lang="en-US"/>
          </a:p>
        </p:txBody>
      </p:sp>
      <p:sp>
        <p:nvSpPr>
          <p:cNvPr id="8" name="Text 6"/>
          <p:cNvSpPr/>
          <p:nvPr/>
        </p:nvSpPr>
        <p:spPr>
          <a:xfrm>
            <a:off x="347472" y="1683908"/>
            <a:ext cx="2037002" cy="502920"/>
          </a:xfrm>
          <a:prstGeom prst="rect">
            <a:avLst/>
          </a:prstGeom>
          <a:noFill/>
          <a:ln/>
        </p:spPr>
        <p:txBody>
          <a:bodyPr wrap="square" rtlCol="0" anchor="ctr"/>
          <a:lstStyle/>
          <a:p>
            <a:pPr marL="0" indent="0" algn="l">
              <a:buNone/>
            </a:pPr>
            <a:r>
              <a:rPr lang="en-US" sz="1000" b="1" dirty="0">
                <a:solidFill>
                  <a:srgbClr val="0A1628"/>
                </a:solidFill>
                <a:latin typeface="Consolas" pitchFamily="34" charset="0"/>
                <a:ea typeface="Consolas" pitchFamily="34" charset="-122"/>
                <a:cs typeface="Consolas" pitchFamily="34" charset="-120"/>
              </a:rPr>
              <a:t>GPE-Geopolitical locations </a:t>
            </a:r>
            <a:endParaRPr lang="en-US" sz="1000" dirty="0"/>
          </a:p>
        </p:txBody>
      </p:sp>
      <p:sp>
        <p:nvSpPr>
          <p:cNvPr id="9" name="Text 7"/>
          <p:cNvSpPr/>
          <p:nvPr/>
        </p:nvSpPr>
        <p:spPr>
          <a:xfrm>
            <a:off x="2286000" y="1680391"/>
            <a:ext cx="2286000" cy="502920"/>
          </a:xfrm>
          <a:prstGeom prst="rect">
            <a:avLst/>
          </a:prstGeom>
          <a:noFill/>
          <a:ln/>
        </p:spPr>
        <p:txBody>
          <a:bodyPr wrap="square" rtlCol="0" anchor="ctr"/>
          <a:lstStyle/>
          <a:p>
            <a:pPr marL="0" indent="0">
              <a:buNone/>
            </a:pPr>
            <a:r>
              <a:rPr lang="en-US" sz="900" i="1" dirty="0">
                <a:solidFill>
                  <a:srgbClr val="0A1628"/>
                </a:solidFill>
              </a:rPr>
              <a:t>Chine, </a:t>
            </a:r>
            <a:r>
              <a:rPr lang="en-US" sz="900" i="1" dirty="0" err="1">
                <a:solidFill>
                  <a:srgbClr val="0A1628"/>
                </a:solidFill>
              </a:rPr>
              <a:t>wuhan</a:t>
            </a:r>
            <a:endParaRPr lang="en-US" sz="900" dirty="0"/>
          </a:p>
        </p:txBody>
      </p:sp>
      <p:sp>
        <p:nvSpPr>
          <p:cNvPr id="10" name="Shape 8"/>
          <p:cNvSpPr/>
          <p:nvPr/>
        </p:nvSpPr>
        <p:spPr>
          <a:xfrm>
            <a:off x="256032" y="2406284"/>
            <a:ext cx="3657600" cy="594360"/>
          </a:xfrm>
          <a:prstGeom prst="rect">
            <a:avLst/>
          </a:prstGeom>
          <a:solidFill>
            <a:srgbClr val="7AECEC"/>
          </a:solidFill>
          <a:ln>
            <a:noFill/>
          </a:ln>
        </p:spPr>
        <p:style>
          <a:lnRef idx="0">
            <a:scrgbClr r="0" g="0" b="0"/>
          </a:lnRef>
          <a:fillRef idx="0">
            <a:scrgbClr r="0" g="0" b="0"/>
          </a:fillRef>
          <a:effectRef idx="0">
            <a:scrgbClr r="0" g="0" b="0"/>
          </a:effectRef>
          <a:fontRef idx="minor">
            <a:schemeClr val="lt1"/>
          </a:fontRef>
        </p:style>
        <p:txBody>
          <a:bodyPr/>
          <a:lstStyle/>
          <a:p>
            <a:endParaRPr lang="en-US"/>
          </a:p>
        </p:txBody>
      </p:sp>
      <p:sp>
        <p:nvSpPr>
          <p:cNvPr id="11" name="Text 9"/>
          <p:cNvSpPr/>
          <p:nvPr/>
        </p:nvSpPr>
        <p:spPr>
          <a:xfrm>
            <a:off x="347471" y="2433716"/>
            <a:ext cx="2627845" cy="502920"/>
          </a:xfrm>
          <a:prstGeom prst="rect">
            <a:avLst/>
          </a:prstGeom>
          <a:noFill/>
          <a:ln/>
        </p:spPr>
        <p:txBody>
          <a:bodyPr wrap="square" rtlCol="0" anchor="ctr"/>
          <a:lstStyle/>
          <a:p>
            <a:pPr marL="0" indent="0" algn="l">
              <a:buNone/>
            </a:pPr>
            <a:r>
              <a:rPr lang="en-US" sz="1000" b="1" dirty="0">
                <a:solidFill>
                  <a:srgbClr val="0A1628"/>
                </a:solidFill>
                <a:latin typeface="Consolas" pitchFamily="34" charset="0"/>
              </a:rPr>
              <a:t>ORG Organizations/Institutions</a:t>
            </a:r>
            <a:endParaRPr lang="en-US" sz="1000" dirty="0"/>
          </a:p>
        </p:txBody>
      </p:sp>
      <p:sp>
        <p:nvSpPr>
          <p:cNvPr id="12" name="Text 10"/>
          <p:cNvSpPr/>
          <p:nvPr/>
        </p:nvSpPr>
        <p:spPr>
          <a:xfrm>
            <a:off x="2532184" y="2444521"/>
            <a:ext cx="2286000" cy="502920"/>
          </a:xfrm>
          <a:prstGeom prst="rect">
            <a:avLst/>
          </a:prstGeom>
          <a:noFill/>
          <a:ln/>
        </p:spPr>
        <p:txBody>
          <a:bodyPr wrap="square" rtlCol="0" anchor="ctr"/>
          <a:lstStyle/>
          <a:p>
            <a:pPr marL="0" indent="0">
              <a:buNone/>
            </a:pPr>
            <a:r>
              <a:rPr lang="en-US" sz="900" i="1" dirty="0">
                <a:solidFill>
                  <a:srgbClr val="0A1628"/>
                </a:solidFill>
              </a:rPr>
              <a:t>Central hospital of Wuhan</a:t>
            </a:r>
            <a:endParaRPr lang="en-US" sz="900" dirty="0"/>
          </a:p>
        </p:txBody>
      </p:sp>
      <p:sp>
        <p:nvSpPr>
          <p:cNvPr id="13" name="Shape 11"/>
          <p:cNvSpPr/>
          <p:nvPr/>
        </p:nvSpPr>
        <p:spPr>
          <a:xfrm>
            <a:off x="256032" y="3156092"/>
            <a:ext cx="3657600" cy="594360"/>
          </a:xfrm>
          <a:prstGeom prst="rect">
            <a:avLst/>
          </a:prstGeom>
          <a:solidFill>
            <a:srgbClr val="AA9CFC"/>
          </a:solidFill>
          <a:ln w="19050">
            <a:solidFill>
              <a:srgbClr val="60A5FA"/>
            </a:solidFill>
            <a:prstDash val="solid"/>
          </a:ln>
        </p:spPr>
        <p:txBody>
          <a:bodyPr/>
          <a:lstStyle/>
          <a:p>
            <a:endParaRPr lang="en-US">
              <a:ln>
                <a:solidFill>
                  <a:schemeClr val="bg1"/>
                </a:solidFill>
              </a:ln>
            </a:endParaRPr>
          </a:p>
        </p:txBody>
      </p:sp>
      <p:sp>
        <p:nvSpPr>
          <p:cNvPr id="14" name="Text 12"/>
          <p:cNvSpPr/>
          <p:nvPr/>
        </p:nvSpPr>
        <p:spPr>
          <a:xfrm>
            <a:off x="347471" y="3183524"/>
            <a:ext cx="1882257" cy="502920"/>
          </a:xfrm>
          <a:prstGeom prst="rect">
            <a:avLst/>
          </a:prstGeom>
          <a:noFill/>
          <a:ln/>
        </p:spPr>
        <p:txBody>
          <a:bodyPr wrap="square" rtlCol="0" anchor="ctr"/>
          <a:lstStyle/>
          <a:p>
            <a:pPr marL="0" indent="0" algn="l">
              <a:buNone/>
            </a:pPr>
            <a:r>
              <a:rPr lang="en-US" sz="1000" b="1" dirty="0">
                <a:solidFill>
                  <a:srgbClr val="0A1628"/>
                </a:solidFill>
                <a:latin typeface="Consolas" pitchFamily="34" charset="0"/>
                <a:ea typeface="Consolas" pitchFamily="34" charset="-122"/>
                <a:cs typeface="Consolas" pitchFamily="34" charset="-120"/>
              </a:rPr>
              <a:t>Person Specific individuals or lead researchers</a:t>
            </a:r>
            <a:endParaRPr lang="en-US" sz="1000" dirty="0"/>
          </a:p>
        </p:txBody>
      </p:sp>
      <p:sp>
        <p:nvSpPr>
          <p:cNvPr id="15" name="Text 13"/>
          <p:cNvSpPr/>
          <p:nvPr/>
        </p:nvSpPr>
        <p:spPr>
          <a:xfrm>
            <a:off x="2533589" y="2592930"/>
            <a:ext cx="2286000" cy="502920"/>
          </a:xfrm>
          <a:prstGeom prst="rect">
            <a:avLst/>
          </a:prstGeom>
          <a:noFill/>
          <a:ln/>
        </p:spPr>
        <p:txBody>
          <a:bodyPr wrap="square" rtlCol="0" anchor="ctr"/>
          <a:lstStyle/>
          <a:p>
            <a:pPr marL="0" indent="0">
              <a:buNone/>
            </a:pPr>
            <a:r>
              <a:rPr lang="en-US" sz="900" i="1" dirty="0">
                <a:solidFill>
                  <a:srgbClr val="0A1628"/>
                </a:solidFill>
              </a:rPr>
              <a:t> </a:t>
            </a:r>
            <a:endParaRPr lang="en-US" sz="900" dirty="0"/>
          </a:p>
        </p:txBody>
      </p:sp>
      <p:sp>
        <p:nvSpPr>
          <p:cNvPr id="17" name="Text 15"/>
          <p:cNvSpPr/>
          <p:nvPr/>
        </p:nvSpPr>
        <p:spPr>
          <a:xfrm>
            <a:off x="347472" y="3933332"/>
            <a:ext cx="1188720" cy="502920"/>
          </a:xfrm>
          <a:prstGeom prst="rect">
            <a:avLst/>
          </a:prstGeom>
          <a:noFill/>
          <a:ln/>
        </p:spPr>
        <p:txBody>
          <a:bodyPr wrap="square" rtlCol="0" anchor="ctr"/>
          <a:lstStyle/>
          <a:p>
            <a:pPr marL="0" indent="0" algn="l">
              <a:buNone/>
            </a:pPr>
            <a:r>
              <a:rPr lang="en-US" sz="1000" b="1" dirty="0">
                <a:solidFill>
                  <a:srgbClr val="0A1628"/>
                </a:solidFill>
                <a:latin typeface="Consolas" pitchFamily="34" charset="0"/>
                <a:ea typeface="Consolas" pitchFamily="34" charset="-122"/>
                <a:cs typeface="Consolas" pitchFamily="34" charset="-120"/>
              </a:rPr>
              <a:t>GENE</a:t>
            </a:r>
            <a:endParaRPr lang="en-US" sz="1000" dirty="0"/>
          </a:p>
        </p:txBody>
      </p:sp>
      <p:sp>
        <p:nvSpPr>
          <p:cNvPr id="18" name="Text 16"/>
          <p:cNvSpPr/>
          <p:nvPr/>
        </p:nvSpPr>
        <p:spPr>
          <a:xfrm>
            <a:off x="1554480" y="3933332"/>
            <a:ext cx="2286000" cy="502920"/>
          </a:xfrm>
          <a:prstGeom prst="rect">
            <a:avLst/>
          </a:prstGeom>
          <a:noFill/>
          <a:ln/>
        </p:spPr>
        <p:txBody>
          <a:bodyPr wrap="square" rtlCol="0" anchor="ctr"/>
          <a:lstStyle/>
          <a:p>
            <a:pPr marL="0" indent="0">
              <a:buNone/>
            </a:pPr>
            <a:r>
              <a:rPr lang="en-US" sz="900" i="1" dirty="0">
                <a:solidFill>
                  <a:srgbClr val="0A1628"/>
                </a:solidFill>
              </a:rPr>
              <a:t>spike protein, ACE2 receptor</a:t>
            </a:r>
            <a:endParaRPr lang="en-US" sz="900" dirty="0"/>
          </a:p>
        </p:txBody>
      </p:sp>
      <p:pic>
        <p:nvPicPr>
          <p:cNvPr id="24" name="Image 23">
            <a:extLst>
              <a:ext uri="{FF2B5EF4-FFF2-40B4-BE49-F238E27FC236}">
                <a16:creationId xmlns:a16="http://schemas.microsoft.com/office/drawing/2014/main" id="{352C37BB-7FC7-6DB0-5F90-3EF0547E35E5}"/>
              </a:ext>
            </a:extLst>
          </p:cNvPr>
          <p:cNvPicPr>
            <a:picLocks noChangeAspect="1"/>
          </p:cNvPicPr>
          <p:nvPr/>
        </p:nvPicPr>
        <p:blipFill>
          <a:blip r:embed="rId3"/>
          <a:stretch>
            <a:fillRect/>
          </a:stretch>
        </p:blipFill>
        <p:spPr>
          <a:xfrm>
            <a:off x="4146698" y="1651804"/>
            <a:ext cx="4727659" cy="2809064"/>
          </a:xfrm>
          <a:prstGeom prst="rect">
            <a:avLst/>
          </a:prstGeom>
        </p:spPr>
      </p:pic>
      <p:sp>
        <p:nvSpPr>
          <p:cNvPr id="26" name="Rectangle 25">
            <a:extLst>
              <a:ext uri="{FF2B5EF4-FFF2-40B4-BE49-F238E27FC236}">
                <a16:creationId xmlns:a16="http://schemas.microsoft.com/office/drawing/2014/main" id="{A5D06444-41EF-DDFF-DA68-6FB368CBD764}"/>
              </a:ext>
            </a:extLst>
          </p:cNvPr>
          <p:cNvSpPr/>
          <p:nvPr/>
        </p:nvSpPr>
        <p:spPr>
          <a:xfrm>
            <a:off x="256032" y="3869324"/>
            <a:ext cx="3657600" cy="594360"/>
          </a:xfrm>
          <a:prstGeom prst="rect">
            <a:avLst/>
          </a:prstGeom>
          <a:solidFill>
            <a:srgbClr val="BFE1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12">
            <a:extLst>
              <a:ext uri="{FF2B5EF4-FFF2-40B4-BE49-F238E27FC236}">
                <a16:creationId xmlns:a16="http://schemas.microsoft.com/office/drawing/2014/main" id="{BD2A8228-F859-9AC7-3232-BF42CD24FAF1}"/>
              </a:ext>
            </a:extLst>
          </p:cNvPr>
          <p:cNvSpPr/>
          <p:nvPr/>
        </p:nvSpPr>
        <p:spPr>
          <a:xfrm>
            <a:off x="292607" y="3915044"/>
            <a:ext cx="2285999" cy="502920"/>
          </a:xfrm>
          <a:prstGeom prst="rect">
            <a:avLst/>
          </a:prstGeom>
          <a:noFill/>
          <a:ln/>
        </p:spPr>
        <p:txBody>
          <a:bodyPr wrap="square" rtlCol="0" anchor="ctr"/>
          <a:lstStyle/>
          <a:p>
            <a:pPr marL="0" indent="0" algn="l">
              <a:buNone/>
            </a:pPr>
            <a:r>
              <a:rPr lang="en-US" sz="1000" b="1" dirty="0">
                <a:solidFill>
                  <a:srgbClr val="0A1628"/>
                </a:solidFill>
                <a:latin typeface="Consolas" pitchFamily="34" charset="0"/>
                <a:ea typeface="Consolas" pitchFamily="34" charset="-122"/>
                <a:cs typeface="Consolas" pitchFamily="34" charset="-120"/>
              </a:rPr>
              <a:t>DATE  Trial durations and timelines</a:t>
            </a:r>
            <a:endParaRPr lang="en-US" sz="1000" dirty="0"/>
          </a:p>
        </p:txBody>
      </p:sp>
      <p:sp>
        <p:nvSpPr>
          <p:cNvPr id="28" name="Text 13">
            <a:extLst>
              <a:ext uri="{FF2B5EF4-FFF2-40B4-BE49-F238E27FC236}">
                <a16:creationId xmlns:a16="http://schemas.microsoft.com/office/drawing/2014/main" id="{D80C8E67-015A-EE38-A59A-26346D888CF5}"/>
              </a:ext>
            </a:extLst>
          </p:cNvPr>
          <p:cNvSpPr/>
          <p:nvPr/>
        </p:nvSpPr>
        <p:spPr>
          <a:xfrm>
            <a:off x="2518115" y="3876260"/>
            <a:ext cx="2286000" cy="502920"/>
          </a:xfrm>
          <a:prstGeom prst="rect">
            <a:avLst/>
          </a:prstGeom>
          <a:noFill/>
          <a:ln/>
        </p:spPr>
        <p:txBody>
          <a:bodyPr wrap="square" rtlCol="0" anchor="ctr"/>
          <a:lstStyle/>
          <a:p>
            <a:pPr marL="0" indent="0">
              <a:buNone/>
            </a:pPr>
            <a:r>
              <a:rPr lang="en-US" sz="900" i="1" dirty="0">
                <a:solidFill>
                  <a:srgbClr val="0A1628"/>
                </a:solidFill>
              </a:rPr>
              <a:t>January 20,2020</a:t>
            </a:r>
            <a:endParaRPr lang="en-US" sz="900" dirty="0"/>
          </a:p>
        </p:txBody>
      </p:sp>
      <p:sp>
        <p:nvSpPr>
          <p:cNvPr id="30" name="ZoneTexte 29">
            <a:extLst>
              <a:ext uri="{FF2B5EF4-FFF2-40B4-BE49-F238E27FC236}">
                <a16:creationId xmlns:a16="http://schemas.microsoft.com/office/drawing/2014/main" id="{334CB02E-35EB-8DF4-B720-0C81E93F4A5D}"/>
              </a:ext>
            </a:extLst>
          </p:cNvPr>
          <p:cNvSpPr txBox="1"/>
          <p:nvPr/>
        </p:nvSpPr>
        <p:spPr>
          <a:xfrm>
            <a:off x="292607" y="957083"/>
            <a:ext cx="3657600" cy="646331"/>
          </a:xfrm>
          <a:prstGeom prst="rect">
            <a:avLst/>
          </a:prstGeom>
          <a:noFill/>
        </p:spPr>
        <p:txBody>
          <a:bodyPr wrap="square">
            <a:spAutoFit/>
          </a:bodyPr>
          <a:lstStyle/>
          <a:p>
            <a:pPr algn="l">
              <a:spcAft>
                <a:spcPts val="1200"/>
              </a:spcAft>
              <a:buFont typeface="Arial" panose="020B0604020202020204" pitchFamily="34" charset="0"/>
              <a:buChar char="•"/>
            </a:pPr>
            <a:r>
              <a:rPr lang="en-US" sz="1200" b="1" i="0" dirty="0">
                <a:solidFill>
                  <a:srgbClr val="1F2328"/>
                </a:solidFill>
                <a:effectLst/>
                <a:latin typeface="Mona Sans VF"/>
              </a:rPr>
              <a:t>Impact:</a:t>
            </a:r>
            <a:r>
              <a:rPr lang="en-US" sz="1200" b="0" i="0" dirty="0">
                <a:solidFill>
                  <a:srgbClr val="1F2328"/>
                </a:solidFill>
                <a:effectLst/>
                <a:latin typeface="Mona Sans VF"/>
              </a:rPr>
              <a:t> Automatically extracts the "Who, Where, and When" from messy abstracts without a human having to read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1371600" cy="640080"/>
          </a:xfrm>
          <a:prstGeom prst="rect">
            <a:avLst/>
          </a:prstGeom>
          <a:solidFill>
            <a:srgbClr val="6C63FF"/>
          </a:solidFill>
          <a:ln w="12700">
            <a:solidFill>
              <a:srgbClr val="6C63FF"/>
            </a:solidFill>
            <a:prstDash val="solid"/>
          </a:ln>
        </p:spPr>
        <p:txBody>
          <a:bodyPr/>
          <a:lstStyle/>
          <a:p>
            <a:endParaRPr lang="en-US"/>
          </a:p>
        </p:txBody>
      </p:sp>
      <p:sp>
        <p:nvSpPr>
          <p:cNvPr id="4" name="Text 2"/>
          <p:cNvSpPr/>
          <p:nvPr/>
        </p:nvSpPr>
        <p:spPr>
          <a:xfrm>
            <a:off x="256032" y="182880"/>
            <a:ext cx="1371600" cy="640080"/>
          </a:xfrm>
          <a:prstGeom prst="rect">
            <a:avLst/>
          </a:prstGeom>
          <a:noFill/>
          <a:ln/>
        </p:spPr>
        <p:txBody>
          <a:bodyPr wrap="square" rtlCol="0" anchor="ctr"/>
          <a:lstStyle/>
          <a:p>
            <a:pPr marL="0" indent="0" algn="ctr">
              <a:buNone/>
            </a:pPr>
            <a:r>
              <a:rPr lang="en-US" sz="1000" b="1" kern="0" spc="100" dirty="0">
                <a:solidFill>
                  <a:srgbClr val="FFFFFF"/>
                </a:solidFill>
              </a:rPr>
              <a:t>PHASE 3</a:t>
            </a:r>
            <a:endParaRPr lang="en-US" sz="1000" dirty="0"/>
          </a:p>
        </p:txBody>
      </p:sp>
      <p:sp>
        <p:nvSpPr>
          <p:cNvPr id="5" name="Text 3"/>
          <p:cNvSpPr/>
          <p:nvPr/>
        </p:nvSpPr>
        <p:spPr>
          <a:xfrm>
            <a:off x="1737360" y="201168"/>
            <a:ext cx="6949440" cy="603504"/>
          </a:xfrm>
          <a:prstGeom prst="rect">
            <a:avLst/>
          </a:prstGeom>
          <a:noFill/>
          <a:ln/>
        </p:spPr>
        <p:txBody>
          <a:bodyPr wrap="square" rtlCol="0" anchor="ctr"/>
          <a:lstStyle/>
          <a:p>
            <a:pPr marL="0" indent="0" algn="l">
              <a:buNone/>
            </a:pPr>
            <a:r>
              <a:rPr lang="en-US" sz="1800" b="1" dirty="0">
                <a:solidFill>
                  <a:srgbClr val="0A1628"/>
                </a:solidFill>
              </a:rPr>
              <a:t>Training Word2Vec with Gensim</a:t>
            </a:r>
            <a:endParaRPr lang="en-US" sz="1800" dirty="0"/>
          </a:p>
        </p:txBody>
      </p:sp>
      <p:sp>
        <p:nvSpPr>
          <p:cNvPr id="6" name="Text 4"/>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11 / 18</a:t>
            </a:r>
            <a:endParaRPr lang="en-US" sz="800" dirty="0"/>
          </a:p>
        </p:txBody>
      </p:sp>
      <p:pic>
        <p:nvPicPr>
          <p:cNvPr id="13" name="Image 12">
            <a:extLst>
              <a:ext uri="{FF2B5EF4-FFF2-40B4-BE49-F238E27FC236}">
                <a16:creationId xmlns:a16="http://schemas.microsoft.com/office/drawing/2014/main" id="{1A962EF4-E44D-7DB9-ABC3-8F2D174E76A5}"/>
              </a:ext>
            </a:extLst>
          </p:cNvPr>
          <p:cNvPicPr>
            <a:picLocks noChangeAspect="1"/>
          </p:cNvPicPr>
          <p:nvPr/>
        </p:nvPicPr>
        <p:blipFill>
          <a:blip r:embed="rId3"/>
          <a:stretch>
            <a:fillRect/>
          </a:stretch>
        </p:blipFill>
        <p:spPr>
          <a:xfrm>
            <a:off x="4421476" y="1467988"/>
            <a:ext cx="3518330" cy="1431185"/>
          </a:xfrm>
          <a:prstGeom prst="rect">
            <a:avLst/>
          </a:prstGeom>
        </p:spPr>
      </p:pic>
      <p:sp>
        <p:nvSpPr>
          <p:cNvPr id="17" name="ZoneTexte 16">
            <a:extLst>
              <a:ext uri="{FF2B5EF4-FFF2-40B4-BE49-F238E27FC236}">
                <a16:creationId xmlns:a16="http://schemas.microsoft.com/office/drawing/2014/main" id="{AC5038ED-6025-4C79-AF5D-C213A7F45968}"/>
              </a:ext>
            </a:extLst>
          </p:cNvPr>
          <p:cNvSpPr txBox="1"/>
          <p:nvPr/>
        </p:nvSpPr>
        <p:spPr>
          <a:xfrm>
            <a:off x="324262" y="1400614"/>
            <a:ext cx="3797572" cy="1692771"/>
          </a:xfrm>
          <a:prstGeom prst="rect">
            <a:avLst/>
          </a:prstGeom>
          <a:noFill/>
        </p:spPr>
        <p:txBody>
          <a:bodyPr wrap="square">
            <a:spAutoFit/>
          </a:bodyPr>
          <a:lstStyle/>
          <a:p>
            <a:pPr algn="l">
              <a:spcAft>
                <a:spcPts val="1200"/>
              </a:spcAft>
              <a:buFont typeface="Arial" panose="020B0604020202020204" pitchFamily="34" charset="0"/>
              <a:buChar char="•"/>
            </a:pPr>
            <a:r>
              <a:rPr lang="en-US" sz="1200" b="1" i="0" dirty="0">
                <a:solidFill>
                  <a:srgbClr val="1F2328"/>
                </a:solidFill>
                <a:effectLst/>
                <a:latin typeface="Mona Sans VF"/>
              </a:rPr>
              <a:t>The Training:</a:t>
            </a:r>
            <a:r>
              <a:rPr lang="en-US" sz="1200" b="0" i="0" dirty="0">
                <a:solidFill>
                  <a:srgbClr val="1F2328"/>
                </a:solidFill>
                <a:effectLst/>
                <a:latin typeface="Mona Sans VF"/>
              </a:rPr>
              <a:t> We used the </a:t>
            </a:r>
            <a:r>
              <a:rPr lang="en-US" sz="1200" b="0" i="0" dirty="0" err="1">
                <a:solidFill>
                  <a:srgbClr val="1F2328"/>
                </a:solidFill>
                <a:effectLst/>
                <a:latin typeface="Mona Sans VF"/>
              </a:rPr>
              <a:t>Gensim</a:t>
            </a:r>
            <a:r>
              <a:rPr lang="en-US" sz="1200" b="0" i="0" dirty="0">
                <a:solidFill>
                  <a:srgbClr val="1F2328"/>
                </a:solidFill>
                <a:effectLst/>
                <a:latin typeface="Mona Sans VF"/>
              </a:rPr>
              <a:t> library to map all 1.2M tokens into a mathematical vector space.</a:t>
            </a:r>
          </a:p>
          <a:p>
            <a:pPr algn="l">
              <a:spcAft>
                <a:spcPts val="1200"/>
              </a:spcAft>
              <a:buFont typeface="Arial" panose="020B0604020202020204" pitchFamily="34" charset="0"/>
              <a:buChar char="•"/>
            </a:pPr>
            <a:r>
              <a:rPr lang="en-US" sz="1200" b="1" i="0" dirty="0">
                <a:solidFill>
                  <a:srgbClr val="1F2328"/>
                </a:solidFill>
                <a:effectLst/>
                <a:latin typeface="Mona Sans VF"/>
              </a:rPr>
              <a:t>The Result:</a:t>
            </a:r>
            <a:r>
              <a:rPr lang="en-US" sz="1200" b="0" i="0" dirty="0">
                <a:solidFill>
                  <a:srgbClr val="1F2328"/>
                </a:solidFill>
                <a:effectLst/>
                <a:latin typeface="Mona Sans VF"/>
              </a:rPr>
              <a:t> When we query the model for the word </a:t>
            </a:r>
            <a:r>
              <a:rPr lang="en-US" sz="1200" b="1" i="0" dirty="0">
                <a:solidFill>
                  <a:srgbClr val="1F2328"/>
                </a:solidFill>
                <a:effectLst/>
                <a:latin typeface="Mona Sans VF"/>
              </a:rPr>
              <a:t>'virus'</a:t>
            </a:r>
            <a:r>
              <a:rPr lang="en-US" sz="1200" b="0" i="0" dirty="0">
                <a:solidFill>
                  <a:srgbClr val="1F2328"/>
                </a:solidFill>
                <a:effectLst/>
                <a:latin typeface="Mona Sans VF"/>
              </a:rPr>
              <a:t>, it outputs highly accurate cosine similarity scores (e.g., 'pathogen' at 0.83).</a:t>
            </a:r>
          </a:p>
          <a:p>
            <a:pPr algn="l">
              <a:spcAft>
                <a:spcPts val="1200"/>
              </a:spcAft>
              <a:buFont typeface="Arial" panose="020B0604020202020204" pitchFamily="34" charset="0"/>
              <a:buChar char="•"/>
            </a:pPr>
            <a:r>
              <a:rPr lang="en-US" sz="1200" b="1" i="0" dirty="0">
                <a:solidFill>
                  <a:srgbClr val="1F2328"/>
                </a:solidFill>
                <a:effectLst/>
                <a:latin typeface="Mona Sans VF"/>
              </a:rPr>
              <a:t>Conclusion:</a:t>
            </a:r>
            <a:r>
              <a:rPr lang="en-US" sz="1200" b="0" i="0" dirty="0">
                <a:solidFill>
                  <a:srgbClr val="1F2328"/>
                </a:solidFill>
                <a:effectLst/>
                <a:latin typeface="Mona Sans VF"/>
              </a:rPr>
              <a:t> This proves the </a:t>
            </a:r>
            <a:r>
              <a:rPr lang="en-US" sz="1200" b="0" i="0" dirty="0" err="1">
                <a:solidFill>
                  <a:srgbClr val="1F2328"/>
                </a:solidFill>
                <a:effectLst/>
                <a:latin typeface="Mona Sans VF"/>
              </a:rPr>
              <a:t>Gensim</a:t>
            </a:r>
            <a:r>
              <a:rPr lang="en-US" sz="1200" b="0" i="0" dirty="0">
                <a:solidFill>
                  <a:srgbClr val="1F2328"/>
                </a:solidFill>
                <a:effectLst/>
                <a:latin typeface="Mona Sans VF"/>
              </a:rPr>
              <a:t> model successfully learned medical semantics!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1DC9137F-5D63-D2F0-4A8D-F5C8DDEBD5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B5F72B1-7DFB-0125-AAFA-04FE38FE9F6A}"/>
              </a:ext>
            </a:extLst>
          </p:cNvPr>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a:extLst>
              <a:ext uri="{FF2B5EF4-FFF2-40B4-BE49-F238E27FC236}">
                <a16:creationId xmlns:a16="http://schemas.microsoft.com/office/drawing/2014/main" id="{B76980AB-DCC2-9E97-5985-88DB5D2C0065}"/>
              </a:ext>
            </a:extLst>
          </p:cNvPr>
          <p:cNvSpPr/>
          <p:nvPr/>
        </p:nvSpPr>
        <p:spPr>
          <a:xfrm>
            <a:off x="256032" y="182880"/>
            <a:ext cx="1371600" cy="640080"/>
          </a:xfrm>
          <a:prstGeom prst="rect">
            <a:avLst/>
          </a:prstGeom>
          <a:solidFill>
            <a:srgbClr val="6C63FF"/>
          </a:solidFill>
          <a:ln w="12700">
            <a:solidFill>
              <a:srgbClr val="6C63FF"/>
            </a:solidFill>
            <a:prstDash val="solid"/>
          </a:ln>
        </p:spPr>
        <p:txBody>
          <a:bodyPr/>
          <a:lstStyle/>
          <a:p>
            <a:endParaRPr lang="en-US"/>
          </a:p>
        </p:txBody>
      </p:sp>
      <p:sp>
        <p:nvSpPr>
          <p:cNvPr id="4" name="Text 2">
            <a:extLst>
              <a:ext uri="{FF2B5EF4-FFF2-40B4-BE49-F238E27FC236}">
                <a16:creationId xmlns:a16="http://schemas.microsoft.com/office/drawing/2014/main" id="{DCD66696-FBB1-4417-5F92-B18D177D7777}"/>
              </a:ext>
            </a:extLst>
          </p:cNvPr>
          <p:cNvSpPr/>
          <p:nvPr/>
        </p:nvSpPr>
        <p:spPr>
          <a:xfrm>
            <a:off x="256032" y="182880"/>
            <a:ext cx="1371600" cy="640080"/>
          </a:xfrm>
          <a:prstGeom prst="rect">
            <a:avLst/>
          </a:prstGeom>
          <a:noFill/>
          <a:ln/>
        </p:spPr>
        <p:txBody>
          <a:bodyPr wrap="square" rtlCol="0" anchor="ctr"/>
          <a:lstStyle/>
          <a:p>
            <a:pPr marL="0" indent="0" algn="ctr">
              <a:buNone/>
            </a:pPr>
            <a:r>
              <a:rPr lang="en-US" sz="1000" b="1" kern="0" spc="100" dirty="0">
                <a:solidFill>
                  <a:srgbClr val="FFFFFF"/>
                </a:solidFill>
              </a:rPr>
              <a:t>PHASE 3</a:t>
            </a:r>
            <a:endParaRPr lang="en-US" sz="1000" dirty="0"/>
          </a:p>
        </p:txBody>
      </p:sp>
      <p:sp>
        <p:nvSpPr>
          <p:cNvPr id="5" name="Text 3">
            <a:extLst>
              <a:ext uri="{FF2B5EF4-FFF2-40B4-BE49-F238E27FC236}">
                <a16:creationId xmlns:a16="http://schemas.microsoft.com/office/drawing/2014/main" id="{8A018F45-36C0-5E1D-9361-3579EECDC561}"/>
              </a:ext>
            </a:extLst>
          </p:cNvPr>
          <p:cNvSpPr/>
          <p:nvPr/>
        </p:nvSpPr>
        <p:spPr>
          <a:xfrm>
            <a:off x="1737360" y="201168"/>
            <a:ext cx="6949440" cy="603504"/>
          </a:xfrm>
          <a:prstGeom prst="rect">
            <a:avLst/>
          </a:prstGeom>
          <a:noFill/>
          <a:ln/>
        </p:spPr>
        <p:txBody>
          <a:bodyPr wrap="square" rtlCol="0" anchor="ctr"/>
          <a:lstStyle/>
          <a:p>
            <a:pPr marL="0" indent="0" algn="l">
              <a:buNone/>
            </a:pPr>
            <a:r>
              <a:rPr lang="en-US" sz="1800" b="1" dirty="0">
                <a:solidFill>
                  <a:srgbClr val="0A1628"/>
                </a:solidFill>
              </a:rPr>
              <a:t>Discovering Hidden Themes (LDA Model)</a:t>
            </a:r>
            <a:endParaRPr lang="en-US" sz="1800" dirty="0"/>
          </a:p>
        </p:txBody>
      </p:sp>
      <p:sp>
        <p:nvSpPr>
          <p:cNvPr id="6" name="Text 4">
            <a:extLst>
              <a:ext uri="{FF2B5EF4-FFF2-40B4-BE49-F238E27FC236}">
                <a16:creationId xmlns:a16="http://schemas.microsoft.com/office/drawing/2014/main" id="{F6B0B18C-9A73-1262-2C24-713733E6ED5A}"/>
              </a:ext>
            </a:extLst>
          </p:cNvPr>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11 / 18</a:t>
            </a:r>
            <a:endParaRPr lang="en-US" sz="800" dirty="0"/>
          </a:p>
        </p:txBody>
      </p:sp>
      <p:pic>
        <p:nvPicPr>
          <p:cNvPr id="15" name="Image 14">
            <a:extLst>
              <a:ext uri="{FF2B5EF4-FFF2-40B4-BE49-F238E27FC236}">
                <a16:creationId xmlns:a16="http://schemas.microsoft.com/office/drawing/2014/main" id="{876C593C-6B27-1917-95C3-73BA951D563D}"/>
              </a:ext>
            </a:extLst>
          </p:cNvPr>
          <p:cNvPicPr>
            <a:picLocks noChangeAspect="1"/>
          </p:cNvPicPr>
          <p:nvPr/>
        </p:nvPicPr>
        <p:blipFill>
          <a:blip r:embed="rId3"/>
          <a:srcRect t="1" b="8242"/>
          <a:stretch>
            <a:fillRect/>
          </a:stretch>
        </p:blipFill>
        <p:spPr>
          <a:xfrm>
            <a:off x="437237" y="3756074"/>
            <a:ext cx="7739173" cy="998806"/>
          </a:xfrm>
          <a:prstGeom prst="rect">
            <a:avLst/>
          </a:prstGeom>
        </p:spPr>
      </p:pic>
      <p:sp>
        <p:nvSpPr>
          <p:cNvPr id="9" name="ZoneTexte 8">
            <a:extLst>
              <a:ext uri="{FF2B5EF4-FFF2-40B4-BE49-F238E27FC236}">
                <a16:creationId xmlns:a16="http://schemas.microsoft.com/office/drawing/2014/main" id="{16BE58B3-43E1-AA26-7BA6-86090B63AB56}"/>
              </a:ext>
            </a:extLst>
          </p:cNvPr>
          <p:cNvSpPr txBox="1"/>
          <p:nvPr/>
        </p:nvSpPr>
        <p:spPr>
          <a:xfrm>
            <a:off x="432312" y="1209822"/>
            <a:ext cx="4575516" cy="2462213"/>
          </a:xfrm>
          <a:prstGeom prst="rect">
            <a:avLst/>
          </a:prstGeom>
          <a:noFill/>
        </p:spPr>
        <p:txBody>
          <a:bodyPr wrap="square">
            <a:spAutoFit/>
          </a:bodyPr>
          <a:lstStyle/>
          <a:p>
            <a:pPr algn="l">
              <a:spcAft>
                <a:spcPts val="1200"/>
              </a:spcAft>
              <a:buFont typeface="Arial" panose="020B0604020202020204" pitchFamily="34" charset="0"/>
              <a:buChar char="•"/>
            </a:pPr>
            <a:r>
              <a:rPr lang="fr-FR" sz="1050" b="1" i="0" dirty="0" err="1">
                <a:solidFill>
                  <a:srgbClr val="1F2328"/>
                </a:solidFill>
                <a:effectLst/>
                <a:latin typeface="Mona Sans VF"/>
              </a:rPr>
              <a:t>Algorithm</a:t>
            </a:r>
            <a:r>
              <a:rPr lang="fr-FR" sz="1050" b="1" i="0" dirty="0">
                <a:solidFill>
                  <a:srgbClr val="1F2328"/>
                </a:solidFill>
                <a:effectLst/>
                <a:latin typeface="Mona Sans VF"/>
              </a:rPr>
              <a:t>:</a:t>
            </a:r>
            <a:r>
              <a:rPr lang="fr-FR" sz="1050" b="0" i="0" dirty="0">
                <a:solidFill>
                  <a:srgbClr val="1F2328"/>
                </a:solidFill>
                <a:effectLst/>
                <a:latin typeface="Mona Sans VF"/>
              </a:rPr>
              <a:t> Latent Dirichlet Allocation (</a:t>
            </a:r>
            <a:r>
              <a:rPr lang="fr-FR" sz="1050" b="0" i="0" dirty="0" err="1">
                <a:solidFill>
                  <a:srgbClr val="1F2328"/>
                </a:solidFill>
                <a:effectLst/>
                <a:latin typeface="Mona Sans VF"/>
              </a:rPr>
              <a:t>Unsupervised</a:t>
            </a:r>
            <a:r>
              <a:rPr lang="fr-FR" sz="1050" b="0" i="0" dirty="0">
                <a:solidFill>
                  <a:srgbClr val="1F2328"/>
                </a:solidFill>
                <a:effectLst/>
                <a:latin typeface="Mona Sans VF"/>
              </a:rPr>
              <a:t> Learning).</a:t>
            </a:r>
          </a:p>
          <a:p>
            <a:pPr algn="l">
              <a:spcAft>
                <a:spcPts val="1200"/>
              </a:spcAft>
              <a:buFont typeface="Arial" panose="020B0604020202020204" pitchFamily="34" charset="0"/>
              <a:buChar char="•"/>
            </a:pPr>
            <a:r>
              <a:rPr lang="fr-FR" sz="1050" b="1" i="0" dirty="0">
                <a:solidFill>
                  <a:srgbClr val="1F2328"/>
                </a:solidFill>
                <a:effectLst/>
                <a:latin typeface="Mona Sans VF"/>
              </a:rPr>
              <a:t>The Goal:</a:t>
            </a:r>
            <a:r>
              <a:rPr lang="fr-FR" sz="1050" b="0" i="0" dirty="0">
                <a:solidFill>
                  <a:srgbClr val="1F2328"/>
                </a:solidFill>
                <a:effectLst/>
                <a:latin typeface="Mona Sans VF"/>
              </a:rPr>
              <a:t> Cluster 10,000 abstracts </a:t>
            </a:r>
            <a:r>
              <a:rPr lang="fr-FR" sz="1050" b="0" i="0" dirty="0" err="1">
                <a:solidFill>
                  <a:srgbClr val="1F2328"/>
                </a:solidFill>
                <a:effectLst/>
                <a:latin typeface="Mona Sans VF"/>
              </a:rPr>
              <a:t>into</a:t>
            </a:r>
            <a:r>
              <a:rPr lang="fr-FR" sz="1050" b="0" i="0" dirty="0">
                <a:solidFill>
                  <a:srgbClr val="1F2328"/>
                </a:solidFill>
                <a:effectLst/>
                <a:latin typeface="Mona Sans VF"/>
              </a:rPr>
              <a:t> </a:t>
            </a:r>
            <a:r>
              <a:rPr lang="fr-FR" sz="1050" b="0" i="0" dirty="0" err="1">
                <a:solidFill>
                  <a:srgbClr val="1F2328"/>
                </a:solidFill>
                <a:effectLst/>
                <a:latin typeface="Mona Sans VF"/>
              </a:rPr>
              <a:t>hidden</a:t>
            </a:r>
            <a:r>
              <a:rPr lang="fr-FR" sz="1050" b="0" i="0" dirty="0">
                <a:solidFill>
                  <a:srgbClr val="1F2328"/>
                </a:solidFill>
                <a:effectLst/>
                <a:latin typeface="Mona Sans VF"/>
              </a:rPr>
              <a:t> </a:t>
            </a:r>
            <a:r>
              <a:rPr lang="fr-FR" sz="1050" b="0" i="0" dirty="0" err="1">
                <a:solidFill>
                  <a:srgbClr val="1F2328"/>
                </a:solidFill>
                <a:effectLst/>
                <a:latin typeface="Mona Sans VF"/>
              </a:rPr>
              <a:t>thematic</a:t>
            </a:r>
            <a:r>
              <a:rPr lang="fr-FR" sz="1050" b="0" i="0" dirty="0">
                <a:solidFill>
                  <a:srgbClr val="1F2328"/>
                </a:solidFill>
                <a:effectLst/>
                <a:latin typeface="Mona Sans VF"/>
              </a:rPr>
              <a:t> groups.</a:t>
            </a:r>
          </a:p>
          <a:p>
            <a:pPr algn="l">
              <a:spcAft>
                <a:spcPts val="1200"/>
              </a:spcAft>
              <a:buFont typeface="Arial" panose="020B0604020202020204" pitchFamily="34" charset="0"/>
              <a:buChar char="•"/>
            </a:pPr>
            <a:r>
              <a:rPr lang="fr-FR" sz="1050" b="1" i="0" dirty="0">
                <a:solidFill>
                  <a:srgbClr val="1F2328"/>
                </a:solidFill>
                <a:effectLst/>
                <a:latin typeface="Mona Sans VF"/>
              </a:rPr>
              <a:t>The Output:</a:t>
            </a:r>
            <a:r>
              <a:rPr lang="fr-FR" sz="1050" b="0" i="0" dirty="0">
                <a:solidFill>
                  <a:srgbClr val="1F2328"/>
                </a:solidFill>
                <a:effectLst/>
                <a:latin typeface="Mona Sans VF"/>
              </a:rPr>
              <a:t> The AI </a:t>
            </a:r>
            <a:r>
              <a:rPr lang="fr-FR" sz="1050" b="0" i="0" dirty="0" err="1">
                <a:solidFill>
                  <a:srgbClr val="1F2328"/>
                </a:solidFill>
                <a:effectLst/>
                <a:latin typeface="Mona Sans VF"/>
              </a:rPr>
              <a:t>autonomously</a:t>
            </a:r>
            <a:r>
              <a:rPr lang="fr-FR" sz="1050" b="0" i="0" dirty="0">
                <a:solidFill>
                  <a:srgbClr val="1F2328"/>
                </a:solidFill>
                <a:effectLst/>
                <a:latin typeface="Mona Sans VF"/>
              </a:rPr>
              <a:t> </a:t>
            </a:r>
            <a:r>
              <a:rPr lang="fr-FR" sz="1050" b="0" i="0" dirty="0" err="1">
                <a:solidFill>
                  <a:srgbClr val="1F2328"/>
                </a:solidFill>
                <a:effectLst/>
                <a:latin typeface="Mona Sans VF"/>
              </a:rPr>
              <a:t>grouped</a:t>
            </a:r>
            <a:r>
              <a:rPr lang="fr-FR" sz="1050" b="0" i="0" dirty="0">
                <a:solidFill>
                  <a:srgbClr val="1F2328"/>
                </a:solidFill>
                <a:effectLst/>
                <a:latin typeface="Mona Sans VF"/>
              </a:rPr>
              <a:t> the data </a:t>
            </a:r>
            <a:r>
              <a:rPr lang="fr-FR" sz="1050" b="0" i="0" dirty="0" err="1">
                <a:solidFill>
                  <a:srgbClr val="1F2328"/>
                </a:solidFill>
                <a:effectLst/>
                <a:latin typeface="Mona Sans VF"/>
              </a:rPr>
              <a:t>into</a:t>
            </a:r>
            <a:r>
              <a:rPr lang="fr-FR" sz="1050" b="0" i="0" dirty="0">
                <a:solidFill>
                  <a:srgbClr val="1F2328"/>
                </a:solidFill>
                <a:effectLst/>
                <a:latin typeface="Mona Sans VF"/>
              </a:rPr>
              <a:t> 5 </a:t>
            </a:r>
            <a:r>
              <a:rPr lang="fr-FR" sz="1050" b="0" i="0" dirty="0" err="1">
                <a:solidFill>
                  <a:srgbClr val="1F2328"/>
                </a:solidFill>
                <a:effectLst/>
                <a:latin typeface="Mona Sans VF"/>
              </a:rPr>
              <a:t>core</a:t>
            </a:r>
            <a:r>
              <a:rPr lang="fr-FR" sz="1050" b="0" i="0" dirty="0">
                <a:solidFill>
                  <a:srgbClr val="1F2328"/>
                </a:solidFill>
                <a:effectLst/>
                <a:latin typeface="Mona Sans VF"/>
              </a:rPr>
              <a:t> </a:t>
            </a:r>
            <a:r>
              <a:rPr lang="fr-FR" sz="1050" b="0" i="0" dirty="0" err="1">
                <a:solidFill>
                  <a:srgbClr val="1F2328"/>
                </a:solidFill>
                <a:effectLst/>
                <a:latin typeface="Mona Sans VF"/>
              </a:rPr>
              <a:t>medical</a:t>
            </a:r>
            <a:r>
              <a:rPr lang="fr-FR" sz="1050" b="0" i="0" dirty="0">
                <a:solidFill>
                  <a:srgbClr val="1F2328"/>
                </a:solidFill>
                <a:effectLst/>
                <a:latin typeface="Mona Sans VF"/>
              </a:rPr>
              <a:t> </a:t>
            </a:r>
            <a:r>
              <a:rPr lang="fr-FR" sz="1050" b="0" i="0" dirty="0" err="1">
                <a:solidFill>
                  <a:srgbClr val="1F2328"/>
                </a:solidFill>
                <a:effectLst/>
                <a:latin typeface="Mona Sans VF"/>
              </a:rPr>
              <a:t>pillars</a:t>
            </a:r>
            <a:r>
              <a:rPr lang="fr-FR" sz="1050" b="0" i="0" dirty="0">
                <a:solidFill>
                  <a:srgbClr val="1F2328"/>
                </a:solidFill>
                <a:effectLst/>
                <a:latin typeface="Mona Sans VF"/>
              </a:rPr>
              <a:t>:</a:t>
            </a:r>
          </a:p>
          <a:p>
            <a:pPr marL="742950" lvl="1" indent="-285750" algn="l">
              <a:spcAft>
                <a:spcPts val="1200"/>
              </a:spcAft>
              <a:buFont typeface="Arial" panose="020B0604020202020204" pitchFamily="34" charset="0"/>
              <a:buChar char="•"/>
            </a:pPr>
            <a:r>
              <a:rPr lang="fr-FR" sz="1050" b="0" i="0" dirty="0">
                <a:solidFill>
                  <a:srgbClr val="1F2328"/>
                </a:solidFill>
                <a:effectLst/>
                <a:latin typeface="Mona Sans VF"/>
              </a:rPr>
              <a:t>🩺 </a:t>
            </a:r>
            <a:r>
              <a:rPr lang="fr-FR" sz="1050" b="1" i="0" dirty="0">
                <a:solidFill>
                  <a:srgbClr val="1F2328"/>
                </a:solidFill>
                <a:effectLst/>
                <a:latin typeface="Mona Sans VF"/>
              </a:rPr>
              <a:t>Topic 1:</a:t>
            </a:r>
            <a:r>
              <a:rPr lang="fr-FR" sz="1050" b="0" i="0" dirty="0">
                <a:solidFill>
                  <a:srgbClr val="1F2328"/>
                </a:solidFill>
                <a:effectLst/>
                <a:latin typeface="Mona Sans VF"/>
              </a:rPr>
              <a:t> </a:t>
            </a:r>
            <a:r>
              <a:rPr lang="fr-FR" sz="1050" b="0" i="0" dirty="0" err="1">
                <a:solidFill>
                  <a:srgbClr val="1F2328"/>
                </a:solidFill>
                <a:effectLst/>
                <a:latin typeface="Mona Sans VF"/>
              </a:rPr>
              <a:t>Clinical</a:t>
            </a:r>
            <a:r>
              <a:rPr lang="fr-FR" sz="1050" b="0" i="0" dirty="0">
                <a:solidFill>
                  <a:srgbClr val="1F2328"/>
                </a:solidFill>
                <a:effectLst/>
                <a:latin typeface="Mona Sans VF"/>
              </a:rPr>
              <a:t> Trials &amp; Risk</a:t>
            </a:r>
          </a:p>
          <a:p>
            <a:pPr marL="742950" lvl="1" indent="-285750" algn="l">
              <a:spcAft>
                <a:spcPts val="1200"/>
              </a:spcAft>
              <a:buFont typeface="Arial" panose="020B0604020202020204" pitchFamily="34" charset="0"/>
              <a:buChar char="•"/>
            </a:pPr>
            <a:r>
              <a:rPr lang="fr-FR" sz="1050" b="0" i="0" dirty="0">
                <a:solidFill>
                  <a:srgbClr val="1F2328"/>
                </a:solidFill>
                <a:effectLst/>
                <a:latin typeface="Mona Sans VF"/>
              </a:rPr>
              <a:t>🔬 </a:t>
            </a:r>
            <a:r>
              <a:rPr lang="fr-FR" sz="1050" b="1" i="0" dirty="0">
                <a:solidFill>
                  <a:srgbClr val="1F2328"/>
                </a:solidFill>
                <a:effectLst/>
                <a:latin typeface="Mona Sans VF"/>
              </a:rPr>
              <a:t>Topic 3:</a:t>
            </a:r>
            <a:r>
              <a:rPr lang="fr-FR" sz="1050" b="0" i="0" dirty="0">
                <a:solidFill>
                  <a:srgbClr val="1F2328"/>
                </a:solidFill>
                <a:effectLst/>
                <a:latin typeface="Mona Sans VF"/>
              </a:rPr>
              <a:t> </a:t>
            </a:r>
            <a:r>
              <a:rPr lang="fr-FR" sz="1050" b="0" i="0" dirty="0" err="1">
                <a:solidFill>
                  <a:srgbClr val="1F2328"/>
                </a:solidFill>
                <a:effectLst/>
                <a:latin typeface="Mona Sans VF"/>
              </a:rPr>
              <a:t>Virology</a:t>
            </a:r>
            <a:r>
              <a:rPr lang="fr-FR" sz="1050" b="0" i="0" dirty="0">
                <a:solidFill>
                  <a:srgbClr val="1F2328"/>
                </a:solidFill>
                <a:effectLst/>
                <a:latin typeface="Mona Sans VF"/>
              </a:rPr>
              <a:t> &amp; </a:t>
            </a:r>
            <a:r>
              <a:rPr lang="fr-FR" sz="1050" b="0" i="0" dirty="0" err="1">
                <a:solidFill>
                  <a:srgbClr val="1F2328"/>
                </a:solidFill>
                <a:effectLst/>
                <a:latin typeface="Mona Sans VF"/>
              </a:rPr>
              <a:t>Biology</a:t>
            </a:r>
            <a:endParaRPr lang="fr-FR" sz="1050" b="0" i="0" dirty="0">
              <a:solidFill>
                <a:srgbClr val="1F2328"/>
              </a:solidFill>
              <a:effectLst/>
              <a:latin typeface="Mona Sans VF"/>
            </a:endParaRPr>
          </a:p>
          <a:p>
            <a:pPr marL="742950" lvl="1" indent="-285750" algn="l">
              <a:spcAft>
                <a:spcPts val="1200"/>
              </a:spcAft>
              <a:buFont typeface="Arial" panose="020B0604020202020204" pitchFamily="34" charset="0"/>
              <a:buChar char="•"/>
            </a:pPr>
            <a:r>
              <a:rPr lang="fr-FR" sz="1050" b="0" i="0" dirty="0">
                <a:solidFill>
                  <a:srgbClr val="1F2328"/>
                </a:solidFill>
                <a:effectLst/>
                <a:latin typeface="Mona Sans VF"/>
              </a:rPr>
              <a:t>📊 </a:t>
            </a:r>
            <a:r>
              <a:rPr lang="fr-FR" sz="1050" b="1" i="0" dirty="0">
                <a:solidFill>
                  <a:srgbClr val="1F2328"/>
                </a:solidFill>
                <a:effectLst/>
                <a:latin typeface="Mona Sans VF"/>
              </a:rPr>
              <a:t>Topic 4:</a:t>
            </a:r>
            <a:r>
              <a:rPr lang="fr-FR" sz="1050" b="0" i="0" dirty="0">
                <a:solidFill>
                  <a:srgbClr val="1F2328"/>
                </a:solidFill>
                <a:effectLst/>
                <a:latin typeface="Mona Sans VF"/>
              </a:rPr>
              <a:t> </a:t>
            </a:r>
            <a:r>
              <a:rPr lang="fr-FR" sz="1050" b="0" i="0" dirty="0" err="1">
                <a:solidFill>
                  <a:srgbClr val="1F2328"/>
                </a:solidFill>
                <a:effectLst/>
                <a:latin typeface="Mona Sans VF"/>
              </a:rPr>
              <a:t>Predictive</a:t>
            </a:r>
            <a:r>
              <a:rPr lang="fr-FR" sz="1050" b="0" i="0" dirty="0">
                <a:solidFill>
                  <a:srgbClr val="1F2328"/>
                </a:solidFill>
                <a:effectLst/>
                <a:latin typeface="Mona Sans VF"/>
              </a:rPr>
              <a:t> Modeling</a:t>
            </a:r>
          </a:p>
          <a:p>
            <a:pPr marL="742950" lvl="1" indent="-285750" algn="l">
              <a:spcAft>
                <a:spcPts val="1200"/>
              </a:spcAft>
              <a:buFont typeface="Arial" panose="020B0604020202020204" pitchFamily="34" charset="0"/>
              <a:buChar char="•"/>
            </a:pPr>
            <a:r>
              <a:rPr lang="fr-FR" sz="1050" b="0" i="0" dirty="0">
                <a:solidFill>
                  <a:srgbClr val="1F2328"/>
                </a:solidFill>
                <a:effectLst/>
                <a:latin typeface="Mona Sans VF"/>
              </a:rPr>
              <a:t>🌍 </a:t>
            </a:r>
            <a:r>
              <a:rPr lang="fr-FR" sz="1050" b="1" i="0" dirty="0">
                <a:solidFill>
                  <a:srgbClr val="1F2328"/>
                </a:solidFill>
                <a:effectLst/>
                <a:latin typeface="Mona Sans VF"/>
              </a:rPr>
              <a:t>Topic 5:</a:t>
            </a:r>
            <a:r>
              <a:rPr lang="fr-FR" sz="1050" b="0" i="0" dirty="0">
                <a:solidFill>
                  <a:srgbClr val="1F2328"/>
                </a:solidFill>
                <a:effectLst/>
                <a:latin typeface="Mona Sans VF"/>
              </a:rPr>
              <a:t> Social Impact &amp; Public Health</a:t>
            </a:r>
          </a:p>
          <a:p>
            <a:pPr algn="l">
              <a:spcAft>
                <a:spcPts val="1200"/>
              </a:spcAft>
              <a:buFont typeface="Arial" panose="020B0604020202020204" pitchFamily="34" charset="0"/>
              <a:buChar char="•"/>
            </a:pPr>
            <a:r>
              <a:rPr lang="fr-FR" sz="1050" b="1" i="0" dirty="0">
                <a:solidFill>
                  <a:srgbClr val="1F2328"/>
                </a:solidFill>
                <a:effectLst/>
                <a:latin typeface="Mona Sans VF"/>
              </a:rPr>
              <a:t>Conclusion:</a:t>
            </a:r>
            <a:r>
              <a:rPr lang="fr-FR" sz="1050" b="0" i="0" dirty="0">
                <a:solidFill>
                  <a:srgbClr val="1F2328"/>
                </a:solidFill>
                <a:effectLst/>
                <a:latin typeface="Mona Sans VF"/>
              </a:rPr>
              <a:t> The AI </a:t>
            </a:r>
            <a:r>
              <a:rPr lang="fr-FR" sz="1050" b="0" i="0" dirty="0" err="1">
                <a:solidFill>
                  <a:srgbClr val="1F2328"/>
                </a:solidFill>
                <a:effectLst/>
                <a:latin typeface="Mona Sans VF"/>
              </a:rPr>
              <a:t>successfully</a:t>
            </a:r>
            <a:r>
              <a:rPr lang="fr-FR" sz="1050" b="0" i="0" dirty="0">
                <a:solidFill>
                  <a:srgbClr val="1F2328"/>
                </a:solidFill>
                <a:effectLst/>
                <a:latin typeface="Mona Sans VF"/>
              </a:rPr>
              <a:t> </a:t>
            </a:r>
            <a:r>
              <a:rPr lang="fr-FR" sz="1050" b="0" i="0" dirty="0" err="1">
                <a:solidFill>
                  <a:srgbClr val="1F2328"/>
                </a:solidFill>
                <a:effectLst/>
                <a:latin typeface="Mona Sans VF"/>
              </a:rPr>
              <a:t>recreated</a:t>
            </a:r>
            <a:r>
              <a:rPr lang="fr-FR" sz="1050" b="0" i="0" dirty="0">
                <a:solidFill>
                  <a:srgbClr val="1F2328"/>
                </a:solidFill>
                <a:effectLst/>
                <a:latin typeface="Mona Sans VF"/>
              </a:rPr>
              <a:t> </a:t>
            </a:r>
            <a:r>
              <a:rPr lang="fr-FR" sz="1050" b="0" i="0" dirty="0" err="1">
                <a:solidFill>
                  <a:srgbClr val="1F2328"/>
                </a:solidFill>
                <a:effectLst/>
                <a:latin typeface="Mona Sans VF"/>
              </a:rPr>
              <a:t>human</a:t>
            </a:r>
            <a:r>
              <a:rPr lang="fr-FR" sz="1050" b="0" i="0" dirty="0">
                <a:solidFill>
                  <a:srgbClr val="1F2328"/>
                </a:solidFill>
                <a:effectLst/>
                <a:latin typeface="Mona Sans VF"/>
              </a:rPr>
              <a:t> </a:t>
            </a:r>
            <a:r>
              <a:rPr lang="fr-FR" sz="1050" b="0" i="0" dirty="0" err="1">
                <a:solidFill>
                  <a:srgbClr val="1F2328"/>
                </a:solidFill>
                <a:effectLst/>
                <a:latin typeface="Mona Sans VF"/>
              </a:rPr>
              <a:t>medical</a:t>
            </a:r>
            <a:r>
              <a:rPr lang="fr-FR" sz="1050" b="0" i="0" dirty="0">
                <a:solidFill>
                  <a:srgbClr val="1F2328"/>
                </a:solidFill>
                <a:effectLst/>
                <a:latin typeface="Mona Sans VF"/>
              </a:rPr>
              <a:t> </a:t>
            </a:r>
            <a:r>
              <a:rPr lang="fr-FR" sz="1050" b="0" i="0" dirty="0" err="1">
                <a:solidFill>
                  <a:srgbClr val="1F2328"/>
                </a:solidFill>
                <a:effectLst/>
                <a:latin typeface="Mona Sans VF"/>
              </a:rPr>
              <a:t>categories</a:t>
            </a:r>
            <a:r>
              <a:rPr lang="fr-FR" sz="1050" b="0" i="0" dirty="0">
                <a:solidFill>
                  <a:srgbClr val="1F2328"/>
                </a:solidFill>
                <a:effectLst/>
                <a:latin typeface="Mona Sans VF"/>
              </a:rPr>
              <a:t>.</a:t>
            </a:r>
          </a:p>
        </p:txBody>
      </p:sp>
    </p:spTree>
    <p:extLst>
      <p:ext uri="{BB962C8B-B14F-4D97-AF65-F5344CB8AC3E}">
        <p14:creationId xmlns:p14="http://schemas.microsoft.com/office/powerpoint/2010/main" val="1083025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1371600" cy="640080"/>
          </a:xfrm>
          <a:prstGeom prst="rect">
            <a:avLst/>
          </a:prstGeom>
          <a:solidFill>
            <a:srgbClr val="EF4444"/>
          </a:solidFill>
          <a:ln w="12700">
            <a:solidFill>
              <a:srgbClr val="EF4444"/>
            </a:solidFill>
            <a:prstDash val="solid"/>
          </a:ln>
        </p:spPr>
        <p:txBody>
          <a:bodyPr/>
          <a:lstStyle/>
          <a:p>
            <a:endParaRPr lang="en-US"/>
          </a:p>
        </p:txBody>
      </p:sp>
      <p:sp>
        <p:nvSpPr>
          <p:cNvPr id="4" name="Text 2"/>
          <p:cNvSpPr/>
          <p:nvPr/>
        </p:nvSpPr>
        <p:spPr>
          <a:xfrm>
            <a:off x="256032" y="182880"/>
            <a:ext cx="1371600" cy="640080"/>
          </a:xfrm>
          <a:prstGeom prst="rect">
            <a:avLst/>
          </a:prstGeom>
          <a:noFill/>
          <a:ln/>
        </p:spPr>
        <p:txBody>
          <a:bodyPr wrap="square" rtlCol="0" anchor="ctr"/>
          <a:lstStyle/>
          <a:p>
            <a:pPr marL="0" indent="0" algn="ctr">
              <a:buNone/>
            </a:pPr>
            <a:r>
              <a:rPr lang="en-US" sz="1000" b="1" kern="0" spc="100" dirty="0">
                <a:solidFill>
                  <a:srgbClr val="FFFFFF"/>
                </a:solidFill>
              </a:rPr>
              <a:t>PHASE 4</a:t>
            </a:r>
            <a:endParaRPr lang="en-US" sz="1000" dirty="0"/>
          </a:p>
        </p:txBody>
      </p:sp>
      <p:sp>
        <p:nvSpPr>
          <p:cNvPr id="5" name="Text 3"/>
          <p:cNvSpPr/>
          <p:nvPr/>
        </p:nvSpPr>
        <p:spPr>
          <a:xfrm>
            <a:off x="1737360" y="201168"/>
            <a:ext cx="6949440" cy="603504"/>
          </a:xfrm>
          <a:prstGeom prst="rect">
            <a:avLst/>
          </a:prstGeom>
          <a:noFill/>
          <a:ln/>
        </p:spPr>
        <p:txBody>
          <a:bodyPr wrap="square" rtlCol="0" anchor="ctr"/>
          <a:lstStyle/>
          <a:p>
            <a:r>
              <a:rPr lang="en-US" sz="1800" b="1" dirty="0">
                <a:solidFill>
                  <a:srgbClr val="0A1628"/>
                </a:solidFill>
              </a:rPr>
              <a:t>Model Training — </a:t>
            </a:r>
            <a:r>
              <a:rPr lang="fr-FR" dirty="0"/>
              <a:t>Deep Learning</a:t>
            </a:r>
            <a:endParaRPr lang="en-US" sz="1800" dirty="0"/>
          </a:p>
        </p:txBody>
      </p:sp>
      <p:sp>
        <p:nvSpPr>
          <p:cNvPr id="6" name="Text 4"/>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13 / 18</a:t>
            </a:r>
            <a:endParaRPr lang="en-US" sz="800" dirty="0"/>
          </a:p>
        </p:txBody>
      </p:sp>
      <p:sp>
        <p:nvSpPr>
          <p:cNvPr id="9" name="Text 7"/>
          <p:cNvSpPr/>
          <p:nvPr/>
        </p:nvSpPr>
        <p:spPr>
          <a:xfrm>
            <a:off x="256032" y="3657600"/>
            <a:ext cx="3840480" cy="731520"/>
          </a:xfrm>
          <a:prstGeom prst="rect">
            <a:avLst/>
          </a:prstGeom>
          <a:noFill/>
          <a:ln/>
        </p:spPr>
        <p:txBody>
          <a:bodyPr wrap="square" rtlCol="0" anchor="ctr"/>
          <a:lstStyle/>
          <a:p>
            <a:pPr marL="0" indent="0" algn="ctr">
              <a:buNone/>
            </a:pPr>
            <a:r>
              <a:rPr lang="en-US" sz="1100" b="1" dirty="0">
                <a:solidFill>
                  <a:srgbClr val="FFFFFF"/>
                </a:solidFill>
              </a:rPr>
              <a:t>Early stopping at epoch 15 (patience=3)</a:t>
            </a:r>
            <a:endParaRPr lang="en-US" sz="1100" dirty="0"/>
          </a:p>
        </p:txBody>
      </p:sp>
      <p:sp>
        <p:nvSpPr>
          <p:cNvPr id="13" name="ZoneTexte 12">
            <a:extLst>
              <a:ext uri="{FF2B5EF4-FFF2-40B4-BE49-F238E27FC236}">
                <a16:creationId xmlns:a16="http://schemas.microsoft.com/office/drawing/2014/main" id="{9E284D34-D11C-03A3-506A-E4824DEF386A}"/>
              </a:ext>
            </a:extLst>
          </p:cNvPr>
          <p:cNvSpPr txBox="1"/>
          <p:nvPr/>
        </p:nvSpPr>
        <p:spPr>
          <a:xfrm>
            <a:off x="344131" y="1411559"/>
            <a:ext cx="3719146" cy="3139321"/>
          </a:xfrm>
          <a:prstGeom prst="rect">
            <a:avLst/>
          </a:prstGeom>
          <a:noFill/>
        </p:spPr>
        <p:txBody>
          <a:bodyPr wrap="square">
            <a:spAutoFit/>
          </a:bodyPr>
          <a:lstStyle/>
          <a:p>
            <a:r>
              <a:rPr lang="en-US" sz="1600" dirty="0"/>
              <a:t>Now for the classification phase. Our goal was to categorize these medical abstracts into exactly </a:t>
            </a:r>
            <a:r>
              <a:rPr lang="en-US" sz="1600" b="1" dirty="0"/>
              <a:t>two classes: </a:t>
            </a:r>
          </a:p>
          <a:p>
            <a:r>
              <a:rPr lang="en-US" sz="1600" b="1" dirty="0"/>
              <a:t>Treatment &amp; Clinical </a:t>
            </a:r>
            <a:r>
              <a:rPr lang="en-US" sz="1600" b="1" dirty="0" err="1"/>
              <a:t>Trialsor</a:t>
            </a:r>
            <a:r>
              <a:rPr lang="en-US" sz="1600" b="1" dirty="0"/>
              <a:t> Public Health.</a:t>
            </a:r>
            <a:endParaRPr lang="en-US" sz="1600" dirty="0"/>
          </a:p>
          <a:p>
            <a:r>
              <a:rPr lang="en-US" sz="1600" dirty="0"/>
              <a:t>To find the best engine for this binary classification, we systematically tested three models. We started with a traditional </a:t>
            </a:r>
            <a:r>
              <a:rPr lang="en-US" sz="1600" b="1" dirty="0"/>
              <a:t>Random Forest</a:t>
            </a:r>
            <a:r>
              <a:rPr lang="en-US" sz="1600" dirty="0"/>
              <a:t>, then moved to a standard </a:t>
            </a:r>
            <a:r>
              <a:rPr lang="en-US" sz="1600" b="1" dirty="0"/>
              <a:t>Deep Learning</a:t>
            </a:r>
            <a:r>
              <a:rPr lang="en-US" sz="1600" dirty="0"/>
              <a:t> model, and finally tested an advanced </a:t>
            </a:r>
            <a:r>
              <a:rPr lang="en-US" sz="1600" b="1" dirty="0"/>
              <a:t>Bi-LSTM</a:t>
            </a:r>
            <a:r>
              <a:rPr lang="en-US" sz="1600" dirty="0"/>
              <a:t> </a:t>
            </a:r>
          </a:p>
          <a:p>
            <a:br>
              <a:rPr lang="en-US" sz="1100" dirty="0"/>
            </a:br>
            <a:endParaRPr lang="en-US" sz="1100" b="0" i="0" dirty="0">
              <a:solidFill>
                <a:srgbClr val="1F2328"/>
              </a:solidFill>
              <a:effectLst/>
              <a:latin typeface="Mona Sans VF"/>
            </a:endParaRPr>
          </a:p>
        </p:txBody>
      </p:sp>
      <p:pic>
        <p:nvPicPr>
          <p:cNvPr id="15" name="Image 14">
            <a:extLst>
              <a:ext uri="{FF2B5EF4-FFF2-40B4-BE49-F238E27FC236}">
                <a16:creationId xmlns:a16="http://schemas.microsoft.com/office/drawing/2014/main" id="{E6E22330-EB45-6BDA-FA3A-29250BB44668}"/>
              </a:ext>
            </a:extLst>
          </p:cNvPr>
          <p:cNvPicPr>
            <a:picLocks noChangeAspect="1"/>
          </p:cNvPicPr>
          <p:nvPr/>
        </p:nvPicPr>
        <p:blipFill>
          <a:blip r:embed="rId3"/>
          <a:stretch>
            <a:fillRect/>
          </a:stretch>
        </p:blipFill>
        <p:spPr>
          <a:xfrm>
            <a:off x="4330915" y="1192852"/>
            <a:ext cx="4417338" cy="30191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1371600" cy="640080"/>
          </a:xfrm>
          <a:prstGeom prst="rect">
            <a:avLst/>
          </a:prstGeom>
          <a:solidFill>
            <a:srgbClr val="8B5CF6"/>
          </a:solidFill>
          <a:ln w="12700">
            <a:solidFill>
              <a:srgbClr val="8B5CF6"/>
            </a:solidFill>
            <a:prstDash val="solid"/>
          </a:ln>
        </p:spPr>
        <p:txBody>
          <a:bodyPr/>
          <a:lstStyle/>
          <a:p>
            <a:endParaRPr lang="en-US"/>
          </a:p>
        </p:txBody>
      </p:sp>
      <p:sp>
        <p:nvSpPr>
          <p:cNvPr id="4" name="Text 2"/>
          <p:cNvSpPr/>
          <p:nvPr/>
        </p:nvSpPr>
        <p:spPr>
          <a:xfrm>
            <a:off x="256032" y="182880"/>
            <a:ext cx="1371600" cy="640080"/>
          </a:xfrm>
          <a:prstGeom prst="rect">
            <a:avLst/>
          </a:prstGeom>
          <a:noFill/>
          <a:ln/>
        </p:spPr>
        <p:txBody>
          <a:bodyPr wrap="square" rtlCol="0" anchor="ctr"/>
          <a:lstStyle/>
          <a:p>
            <a:pPr marL="0" indent="0" algn="ctr">
              <a:buNone/>
            </a:pPr>
            <a:r>
              <a:rPr lang="en-US" sz="1000" b="1" kern="0" spc="100" dirty="0">
                <a:solidFill>
                  <a:srgbClr val="FFFFFF"/>
                </a:solidFill>
              </a:rPr>
              <a:t>PHASE 5</a:t>
            </a:r>
            <a:endParaRPr lang="en-US" sz="1000" dirty="0"/>
          </a:p>
        </p:txBody>
      </p:sp>
      <p:sp>
        <p:nvSpPr>
          <p:cNvPr id="5" name="Text 3"/>
          <p:cNvSpPr/>
          <p:nvPr/>
        </p:nvSpPr>
        <p:spPr>
          <a:xfrm>
            <a:off x="1737360" y="201168"/>
            <a:ext cx="6949440" cy="603504"/>
          </a:xfrm>
          <a:prstGeom prst="rect">
            <a:avLst/>
          </a:prstGeom>
          <a:noFill/>
          <a:ln/>
        </p:spPr>
        <p:txBody>
          <a:bodyPr wrap="square" rtlCol="0" anchor="ctr"/>
          <a:lstStyle/>
          <a:p>
            <a:pPr marL="0" indent="0" algn="l">
              <a:buNone/>
            </a:pPr>
            <a:r>
              <a:rPr lang="en-US" sz="1800" b="1" dirty="0">
                <a:solidFill>
                  <a:srgbClr val="0A1628"/>
                </a:solidFill>
              </a:rPr>
              <a:t>Model Evaluation</a:t>
            </a:r>
            <a:endParaRPr lang="en-US" sz="1800" dirty="0"/>
          </a:p>
        </p:txBody>
      </p:sp>
      <p:sp>
        <p:nvSpPr>
          <p:cNvPr id="6" name="Text 4"/>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14 / 18</a:t>
            </a:r>
            <a:endParaRPr lang="en-US" sz="800" dirty="0"/>
          </a:p>
        </p:txBody>
      </p:sp>
      <p:sp>
        <p:nvSpPr>
          <p:cNvPr id="9" name="Text 7"/>
          <p:cNvSpPr/>
          <p:nvPr/>
        </p:nvSpPr>
        <p:spPr>
          <a:xfrm>
            <a:off x="256032" y="1371600"/>
            <a:ext cx="3931920" cy="2743200"/>
          </a:xfrm>
          <a:prstGeom prst="rect">
            <a:avLst/>
          </a:prstGeom>
          <a:noFill/>
          <a:ln/>
        </p:spPr>
        <p:txBody>
          <a:bodyPr wrap="square" lIns="50800" tIns="50800" rIns="50800" bIns="50800" rtlCol="0" anchor="ctr"/>
          <a:lstStyle/>
          <a:p>
            <a:pPr marL="0" indent="0" algn="ctr">
              <a:buNone/>
            </a:pPr>
            <a:endParaRPr lang="en-US" sz="900" dirty="0"/>
          </a:p>
        </p:txBody>
      </p:sp>
      <p:pic>
        <p:nvPicPr>
          <p:cNvPr id="15" name="Image 14">
            <a:extLst>
              <a:ext uri="{FF2B5EF4-FFF2-40B4-BE49-F238E27FC236}">
                <a16:creationId xmlns:a16="http://schemas.microsoft.com/office/drawing/2014/main" id="{503034A6-C123-B9DD-3BC3-155932C05ACD}"/>
              </a:ext>
            </a:extLst>
          </p:cNvPr>
          <p:cNvPicPr>
            <a:picLocks noChangeAspect="1"/>
          </p:cNvPicPr>
          <p:nvPr/>
        </p:nvPicPr>
        <p:blipFill>
          <a:blip r:embed="rId3"/>
          <a:stretch>
            <a:fillRect/>
          </a:stretch>
        </p:blipFill>
        <p:spPr>
          <a:xfrm>
            <a:off x="154745" y="1389888"/>
            <a:ext cx="3025461" cy="2440745"/>
          </a:xfrm>
          <a:prstGeom prst="rect">
            <a:avLst/>
          </a:prstGeom>
        </p:spPr>
      </p:pic>
      <p:pic>
        <p:nvPicPr>
          <p:cNvPr id="17" name="Image 16">
            <a:extLst>
              <a:ext uri="{FF2B5EF4-FFF2-40B4-BE49-F238E27FC236}">
                <a16:creationId xmlns:a16="http://schemas.microsoft.com/office/drawing/2014/main" id="{F2602FCE-6D93-8CEA-AD23-BCB35C3E089E}"/>
              </a:ext>
            </a:extLst>
          </p:cNvPr>
          <p:cNvPicPr>
            <a:picLocks noChangeAspect="1"/>
          </p:cNvPicPr>
          <p:nvPr/>
        </p:nvPicPr>
        <p:blipFill>
          <a:blip r:embed="rId4"/>
          <a:stretch>
            <a:fillRect/>
          </a:stretch>
        </p:blipFill>
        <p:spPr>
          <a:xfrm>
            <a:off x="3394035" y="1371600"/>
            <a:ext cx="2994046" cy="2571574"/>
          </a:xfrm>
          <a:prstGeom prst="rect">
            <a:avLst/>
          </a:prstGeom>
        </p:spPr>
      </p:pic>
      <p:pic>
        <p:nvPicPr>
          <p:cNvPr id="4098" name="Picture 2">
            <a:extLst>
              <a:ext uri="{FF2B5EF4-FFF2-40B4-BE49-F238E27FC236}">
                <a16:creationId xmlns:a16="http://schemas.microsoft.com/office/drawing/2014/main" id="{2F297735-9FFF-5100-16E6-69AC224158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5849" y="1427892"/>
            <a:ext cx="2828151" cy="24589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8631936" cy="640080"/>
          </a:xfrm>
          <a:prstGeom prst="rect">
            <a:avLst/>
          </a:prstGeom>
          <a:solidFill>
            <a:srgbClr val="00B4A6"/>
          </a:solidFill>
          <a:ln w="12700">
            <a:solidFill>
              <a:srgbClr val="00B4A6"/>
            </a:solidFill>
            <a:prstDash val="solid"/>
          </a:ln>
        </p:spPr>
        <p:txBody>
          <a:bodyPr/>
          <a:lstStyle/>
          <a:p>
            <a:endParaRPr lang="en-US"/>
          </a:p>
        </p:txBody>
      </p:sp>
      <p:sp>
        <p:nvSpPr>
          <p:cNvPr id="4" name="Text 2"/>
          <p:cNvSpPr/>
          <p:nvPr/>
        </p:nvSpPr>
        <p:spPr>
          <a:xfrm>
            <a:off x="256032" y="182880"/>
            <a:ext cx="8631936" cy="640080"/>
          </a:xfrm>
          <a:prstGeom prst="rect">
            <a:avLst/>
          </a:prstGeom>
          <a:noFill/>
          <a:ln/>
        </p:spPr>
        <p:txBody>
          <a:bodyPr wrap="square" lIns="0" tIns="203200" rIns="0" bIns="0" rtlCol="0" anchor="ctr"/>
          <a:lstStyle/>
          <a:p>
            <a:pPr marL="0" indent="0" algn="l">
              <a:buNone/>
            </a:pPr>
            <a:r>
              <a:rPr lang="en-US" sz="1800" b="1" dirty="0">
                <a:solidFill>
                  <a:srgbClr val="FFFFFF"/>
                </a:solidFill>
              </a:rPr>
              <a:t>Final Results — Model Comparison</a:t>
            </a:r>
            <a:endParaRPr lang="en-US" sz="1800" dirty="0"/>
          </a:p>
        </p:txBody>
      </p:sp>
      <p:sp>
        <p:nvSpPr>
          <p:cNvPr id="5" name="Text 3"/>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15 / 18</a:t>
            </a:r>
            <a:endParaRPr lang="en-US" sz="800" dirty="0"/>
          </a:p>
        </p:txBody>
      </p:sp>
      <p:graphicFrame>
        <p:nvGraphicFramePr>
          <p:cNvPr id="16" name="Table 0"/>
          <p:cNvGraphicFramePr>
            <a:graphicFrameLocks noGrp="1"/>
          </p:cNvGraphicFramePr>
          <p:nvPr>
            <p:extLst>
              <p:ext uri="{D42A27DB-BD31-4B8C-83A1-F6EECF244321}">
                <p14:modId xmlns:p14="http://schemas.microsoft.com/office/powerpoint/2010/main" val="4268385180"/>
              </p:ext>
            </p:extLst>
          </p:nvPr>
        </p:nvGraphicFramePr>
        <p:xfrm>
          <a:off x="4455238" y="1336430"/>
          <a:ext cx="4168257" cy="2236764"/>
        </p:xfrm>
        <a:graphic>
          <a:graphicData uri="http://schemas.openxmlformats.org/drawingml/2006/table">
            <a:tbl>
              <a:tblPr/>
              <a:tblGrid>
                <a:gridCol w="1945187">
                  <a:extLst>
                    <a:ext uri="{9D8B030D-6E8A-4147-A177-3AD203B41FA5}">
                      <a16:colId xmlns:a16="http://schemas.microsoft.com/office/drawing/2014/main" val="20000"/>
                    </a:ext>
                  </a:extLst>
                </a:gridCol>
                <a:gridCol w="1111535">
                  <a:extLst>
                    <a:ext uri="{9D8B030D-6E8A-4147-A177-3AD203B41FA5}">
                      <a16:colId xmlns:a16="http://schemas.microsoft.com/office/drawing/2014/main" val="20001"/>
                    </a:ext>
                  </a:extLst>
                </a:gridCol>
                <a:gridCol w="1111535">
                  <a:extLst>
                    <a:ext uri="{9D8B030D-6E8A-4147-A177-3AD203B41FA5}">
                      <a16:colId xmlns:a16="http://schemas.microsoft.com/office/drawing/2014/main" val="20002"/>
                    </a:ext>
                  </a:extLst>
                </a:gridCol>
              </a:tblGrid>
              <a:tr h="559191">
                <a:tc>
                  <a:txBody>
                    <a:bodyPr/>
                    <a:lstStyle/>
                    <a:p>
                      <a:pPr marL="0" indent="0">
                        <a:buNone/>
                      </a:pPr>
                      <a:r>
                        <a:rPr lang="en-US" sz="1000" b="1" dirty="0">
                          <a:solidFill>
                            <a:srgbClr val="FFFFFF"/>
                          </a:solidFill>
                        </a:rPr>
                        <a:t>Model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B4A6"/>
                    </a:solidFill>
                  </a:tcPr>
                </a:tc>
                <a:tc>
                  <a:txBody>
                    <a:bodyPr/>
                    <a:lstStyle/>
                    <a:p>
                      <a:pPr marL="0" indent="0">
                        <a:buNone/>
                      </a:pPr>
                      <a:r>
                        <a:rPr lang="en-US" sz="1000" b="1" dirty="0">
                          <a:solidFill>
                            <a:srgbClr val="FFFFFF"/>
                          </a:solidFill>
                        </a:rPr>
                        <a:t>Accuracy</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B4A6"/>
                    </a:solidFill>
                  </a:tcPr>
                </a:tc>
                <a:tc>
                  <a:txBody>
                    <a:bodyPr/>
                    <a:lstStyle/>
                    <a:p>
                      <a:pPr marL="0" indent="0">
                        <a:buNone/>
                      </a:pPr>
                      <a:r>
                        <a:rPr lang="en-US" sz="1000" b="1" dirty="0">
                          <a:solidFill>
                            <a:srgbClr val="FFFFFF"/>
                          </a:solidFill>
                        </a:rPr>
                        <a:t>F1-Score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B4A6"/>
                    </a:solidFill>
                  </a:tcPr>
                </a:tc>
                <a:extLst>
                  <a:ext uri="{0D108BD9-81ED-4DB2-BD59-A6C34878D82A}">
                    <a16:rowId xmlns:a16="http://schemas.microsoft.com/office/drawing/2014/main" val="10000"/>
                  </a:ext>
                </a:extLst>
              </a:tr>
              <a:tr h="559191">
                <a:tc>
                  <a:txBody>
                    <a:bodyPr/>
                    <a:lstStyle/>
                    <a:p>
                      <a:pPr marL="0" indent="0">
                        <a:buNone/>
                      </a:pPr>
                      <a:r>
                        <a:rPr lang="en-US" sz="1000" dirty="0">
                          <a:solidFill>
                            <a:srgbClr val="0A1628"/>
                          </a:solidFill>
                        </a:rPr>
                        <a:t>Random Forest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9F8"/>
                    </a:solidFill>
                  </a:tcPr>
                </a:tc>
                <a:tc>
                  <a:txBody>
                    <a:bodyPr/>
                    <a:lstStyle/>
                    <a:p>
                      <a:pPr marL="0" indent="0">
                        <a:buNone/>
                      </a:pPr>
                      <a:r>
                        <a:rPr lang="en-US" sz="1000" dirty="0">
                          <a:solidFill>
                            <a:srgbClr val="0A1628"/>
                          </a:solidFill>
                        </a:rPr>
                        <a:t>0.9880</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9F8"/>
                    </a:solidFill>
                  </a:tcPr>
                </a:tc>
                <a:tc>
                  <a:txBody>
                    <a:bodyPr/>
                    <a:lstStyle/>
                    <a:p>
                      <a:pPr marL="0" indent="0">
                        <a:buNone/>
                      </a:pPr>
                      <a:r>
                        <a:rPr lang="en-US" sz="1000" dirty="0">
                          <a:solidFill>
                            <a:srgbClr val="0A1628"/>
                          </a:solidFill>
                        </a:rPr>
                        <a:t>0.9846</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9F8"/>
                    </a:solidFill>
                  </a:tcPr>
                </a:tc>
                <a:extLst>
                  <a:ext uri="{0D108BD9-81ED-4DB2-BD59-A6C34878D82A}">
                    <a16:rowId xmlns:a16="http://schemas.microsoft.com/office/drawing/2014/main" val="10001"/>
                  </a:ext>
                </a:extLst>
              </a:tr>
              <a:tr h="559191">
                <a:tc>
                  <a:txBody>
                    <a:bodyPr/>
                    <a:lstStyle/>
                    <a:p>
                      <a:pPr marL="0" indent="0">
                        <a:buNone/>
                      </a:pPr>
                      <a:r>
                        <a:rPr lang="en-US" sz="1000" dirty="0"/>
                        <a:t>Deep Learning Model</a:t>
                      </a: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A1628"/>
                          </a:solidFill>
                        </a:rPr>
                        <a:t>0.8965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A1628"/>
                          </a:solidFill>
                        </a:rPr>
                        <a:t>0.8606</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9191">
                <a:tc>
                  <a:txBody>
                    <a:bodyPr/>
                    <a:lstStyle/>
                    <a:p>
                      <a:pPr marL="0" indent="0">
                        <a:buNone/>
                      </a:pPr>
                      <a:r>
                        <a:rPr lang="en-US" sz="1000" dirty="0">
                          <a:solidFill>
                            <a:srgbClr val="0A1628"/>
                          </a:solidFill>
                        </a:rPr>
                        <a:t>Bi-LSTM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9F8"/>
                    </a:solidFill>
                  </a:tcPr>
                </a:tc>
                <a:tc>
                  <a:txBody>
                    <a:bodyPr/>
                    <a:lstStyle/>
                    <a:p>
                      <a:pPr marL="0" indent="0">
                        <a:buNone/>
                      </a:pPr>
                      <a:r>
                        <a:rPr lang="en-US" sz="1000" dirty="0">
                          <a:solidFill>
                            <a:srgbClr val="0A1628"/>
                          </a:solidFill>
                        </a:rPr>
                        <a:t>0.9460</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9F8"/>
                    </a:solidFill>
                  </a:tcPr>
                </a:tc>
                <a:tc>
                  <a:txBody>
                    <a:bodyPr/>
                    <a:lstStyle/>
                    <a:p>
                      <a:pPr marL="0" indent="0">
                        <a:buNone/>
                      </a:pPr>
                      <a:r>
                        <a:rPr lang="en-US" sz="1000" b="1" dirty="0">
                          <a:solidFill>
                            <a:srgbClr val="15803D"/>
                          </a:solidFill>
                        </a:rPr>
                        <a:t>0.9304</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9F8"/>
                    </a:solidFill>
                  </a:tcPr>
                </a:tc>
                <a:extLst>
                  <a:ext uri="{0D108BD9-81ED-4DB2-BD59-A6C34878D82A}">
                    <a16:rowId xmlns:a16="http://schemas.microsoft.com/office/drawing/2014/main" val="10003"/>
                  </a:ext>
                </a:extLst>
              </a:tr>
            </a:tbl>
          </a:graphicData>
        </a:graphic>
      </p:graphicFrame>
      <p:sp>
        <p:nvSpPr>
          <p:cNvPr id="9" name="ZoneTexte 8">
            <a:extLst>
              <a:ext uri="{FF2B5EF4-FFF2-40B4-BE49-F238E27FC236}">
                <a16:creationId xmlns:a16="http://schemas.microsoft.com/office/drawing/2014/main" id="{FC08513C-32AD-07D5-3B1A-7EA05BC6C8B4}"/>
              </a:ext>
            </a:extLst>
          </p:cNvPr>
          <p:cNvSpPr txBox="1"/>
          <p:nvPr/>
        </p:nvSpPr>
        <p:spPr>
          <a:xfrm>
            <a:off x="347472" y="1072460"/>
            <a:ext cx="3650566" cy="3323987"/>
          </a:xfrm>
          <a:prstGeom prst="rect">
            <a:avLst/>
          </a:prstGeom>
          <a:noFill/>
        </p:spPr>
        <p:txBody>
          <a:bodyPr wrap="square">
            <a:spAutoFit/>
          </a:bodyPr>
          <a:lstStyle/>
          <a:p>
            <a:r>
              <a:rPr lang="en-US" sz="1400" b="1" dirty="0"/>
              <a:t>The Test:</a:t>
            </a:r>
            <a:r>
              <a:rPr lang="en-US" sz="1400" dirty="0"/>
              <a:t> Compared tree-based ensemble models against Deep Learning architectures.</a:t>
            </a:r>
          </a:p>
          <a:p>
            <a:r>
              <a:rPr lang="en-US" sz="1400" b="1" dirty="0"/>
              <a:t>The Winner:</a:t>
            </a:r>
            <a:r>
              <a:rPr lang="en-US" sz="1400" dirty="0"/>
              <a:t> </a:t>
            </a:r>
            <a:r>
              <a:rPr lang="en-US" sz="1400" b="1" dirty="0"/>
              <a:t>Random Forest</a:t>
            </a:r>
            <a:r>
              <a:rPr lang="en-US" sz="1400" dirty="0"/>
              <a:t> achieved near-perfect classification (98.8%).</a:t>
            </a:r>
          </a:p>
          <a:p>
            <a:r>
              <a:rPr lang="en-US" sz="1400" b="1" dirty="0"/>
              <a:t>Why did Random Forest win?</a:t>
            </a:r>
            <a:endParaRPr lang="en-US" sz="1400" dirty="0"/>
          </a:p>
          <a:p>
            <a:pPr lvl="1"/>
            <a:r>
              <a:rPr lang="en-US" sz="1400" b="1" dirty="0"/>
              <a:t>Keyword Dominance:</a:t>
            </a:r>
            <a:r>
              <a:rPr lang="en-US" sz="1400" dirty="0"/>
              <a:t> Our classes (Clinical vs. Public Health) have highly distinct vocabularies. RF easily splits trees based on these strong keyword signals (TF-IDF).</a:t>
            </a:r>
          </a:p>
          <a:p>
            <a:pPr lvl="1"/>
            <a:r>
              <a:rPr lang="en-US" sz="1400" b="1" dirty="0"/>
              <a:t>Dataset Size:</a:t>
            </a:r>
            <a:r>
              <a:rPr lang="en-US" sz="1400" dirty="0"/>
              <a:t> Deep Learning (Bi-LSTM) usually requires massive datasets (100k+ rows) to beat traditional models. At 10,000 abstracts, Random Forest is highly efficient and avoids overfitting.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83216-B4C6-B3B8-0985-2607EBC885F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5961716-CDA9-F6C3-ED04-947D4781D0EF}"/>
              </a:ext>
            </a:extLst>
          </p:cNvPr>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a:extLst>
              <a:ext uri="{FF2B5EF4-FFF2-40B4-BE49-F238E27FC236}">
                <a16:creationId xmlns:a16="http://schemas.microsoft.com/office/drawing/2014/main" id="{A284EC5E-71C4-4849-DB55-0B8E18934F3C}"/>
              </a:ext>
            </a:extLst>
          </p:cNvPr>
          <p:cNvSpPr/>
          <p:nvPr/>
        </p:nvSpPr>
        <p:spPr>
          <a:xfrm>
            <a:off x="256032" y="182880"/>
            <a:ext cx="8631936" cy="640080"/>
          </a:xfrm>
          <a:prstGeom prst="rect">
            <a:avLst/>
          </a:prstGeom>
          <a:solidFill>
            <a:srgbClr val="00B4A6"/>
          </a:solidFill>
          <a:ln w="12700">
            <a:solidFill>
              <a:srgbClr val="00B4A6"/>
            </a:solidFill>
            <a:prstDash val="solid"/>
          </a:ln>
        </p:spPr>
        <p:txBody>
          <a:bodyPr/>
          <a:lstStyle/>
          <a:p>
            <a:endParaRPr lang="en-US"/>
          </a:p>
        </p:txBody>
      </p:sp>
      <p:sp>
        <p:nvSpPr>
          <p:cNvPr id="4" name="Text 2">
            <a:extLst>
              <a:ext uri="{FF2B5EF4-FFF2-40B4-BE49-F238E27FC236}">
                <a16:creationId xmlns:a16="http://schemas.microsoft.com/office/drawing/2014/main" id="{1129278D-5F95-DF85-4835-9C3684701B22}"/>
              </a:ext>
            </a:extLst>
          </p:cNvPr>
          <p:cNvSpPr/>
          <p:nvPr/>
        </p:nvSpPr>
        <p:spPr>
          <a:xfrm>
            <a:off x="256032" y="182880"/>
            <a:ext cx="8631936" cy="640080"/>
          </a:xfrm>
          <a:prstGeom prst="rect">
            <a:avLst/>
          </a:prstGeom>
          <a:noFill/>
          <a:ln/>
        </p:spPr>
        <p:txBody>
          <a:bodyPr wrap="square" lIns="0" tIns="203200" rIns="0" bIns="0" rtlCol="0" anchor="ctr"/>
          <a:lstStyle/>
          <a:p>
            <a:pPr marL="0" indent="0" algn="l">
              <a:buNone/>
            </a:pPr>
            <a:r>
              <a:rPr lang="en-US" sz="1800" b="1" dirty="0">
                <a:solidFill>
                  <a:srgbClr val="FFFFFF"/>
                </a:solidFill>
              </a:rPr>
              <a:t>Final Results — Model Comparison</a:t>
            </a:r>
            <a:endParaRPr lang="en-US" sz="1800" dirty="0"/>
          </a:p>
        </p:txBody>
      </p:sp>
      <p:sp>
        <p:nvSpPr>
          <p:cNvPr id="5" name="Text 3">
            <a:extLst>
              <a:ext uri="{FF2B5EF4-FFF2-40B4-BE49-F238E27FC236}">
                <a16:creationId xmlns:a16="http://schemas.microsoft.com/office/drawing/2014/main" id="{F82D60F0-2801-19B7-21D6-737433C63BAA}"/>
              </a:ext>
            </a:extLst>
          </p:cNvPr>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15 / 18</a:t>
            </a:r>
            <a:endParaRPr lang="en-US" sz="800" dirty="0"/>
          </a:p>
        </p:txBody>
      </p:sp>
      <p:pic>
        <p:nvPicPr>
          <p:cNvPr id="7" name="Image 6">
            <a:extLst>
              <a:ext uri="{FF2B5EF4-FFF2-40B4-BE49-F238E27FC236}">
                <a16:creationId xmlns:a16="http://schemas.microsoft.com/office/drawing/2014/main" id="{E0477E41-3EB2-7A09-347A-133F706389E5}"/>
              </a:ext>
            </a:extLst>
          </p:cNvPr>
          <p:cNvPicPr>
            <a:picLocks noChangeAspect="1"/>
          </p:cNvPicPr>
          <p:nvPr/>
        </p:nvPicPr>
        <p:blipFill>
          <a:blip r:embed="rId3"/>
          <a:stretch>
            <a:fillRect/>
          </a:stretch>
        </p:blipFill>
        <p:spPr>
          <a:xfrm>
            <a:off x="1249211" y="1014768"/>
            <a:ext cx="6307218" cy="3854411"/>
          </a:xfrm>
          <a:prstGeom prst="rect">
            <a:avLst/>
          </a:prstGeom>
        </p:spPr>
      </p:pic>
    </p:spTree>
    <p:extLst>
      <p:ext uri="{BB962C8B-B14F-4D97-AF65-F5344CB8AC3E}">
        <p14:creationId xmlns:p14="http://schemas.microsoft.com/office/powerpoint/2010/main" val="3365300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A6"/>
          </a:solidFill>
          <a:ln w="12700">
            <a:solidFill>
              <a:srgbClr val="00B4A6"/>
            </a:solidFill>
            <a:prstDash val="solid"/>
          </a:ln>
        </p:spPr>
        <p:txBody>
          <a:bodyPr/>
          <a:lstStyle/>
          <a:p>
            <a:endParaRPr lang="en-US"/>
          </a:p>
        </p:txBody>
      </p:sp>
      <p:sp>
        <p:nvSpPr>
          <p:cNvPr id="3" name="Shape 1"/>
          <p:cNvSpPr/>
          <p:nvPr/>
        </p:nvSpPr>
        <p:spPr>
          <a:xfrm>
            <a:off x="256032" y="182880"/>
            <a:ext cx="8631936" cy="640080"/>
          </a:xfrm>
          <a:prstGeom prst="rect">
            <a:avLst/>
          </a:prstGeom>
          <a:solidFill>
            <a:srgbClr val="00B4A6"/>
          </a:solidFill>
          <a:ln w="12700">
            <a:solidFill>
              <a:srgbClr val="00B4A6"/>
            </a:solidFill>
            <a:prstDash val="solid"/>
          </a:ln>
        </p:spPr>
        <p:txBody>
          <a:bodyPr/>
          <a:lstStyle/>
          <a:p>
            <a:endParaRPr lang="en-US"/>
          </a:p>
        </p:txBody>
      </p:sp>
      <p:sp>
        <p:nvSpPr>
          <p:cNvPr id="4" name="Text 2"/>
          <p:cNvSpPr/>
          <p:nvPr/>
        </p:nvSpPr>
        <p:spPr>
          <a:xfrm>
            <a:off x="256032" y="182880"/>
            <a:ext cx="8631936" cy="640080"/>
          </a:xfrm>
          <a:prstGeom prst="rect">
            <a:avLst/>
          </a:prstGeom>
          <a:noFill/>
          <a:ln/>
        </p:spPr>
        <p:txBody>
          <a:bodyPr wrap="square" lIns="0" tIns="203200" rIns="0" bIns="0" rtlCol="0" anchor="ctr"/>
          <a:lstStyle/>
          <a:p>
            <a:pPr marL="0" indent="0" algn="l">
              <a:buNone/>
            </a:pPr>
            <a:r>
              <a:rPr lang="en-US" sz="1800" b="1" dirty="0">
                <a:solidFill>
                  <a:srgbClr val="FFFFFF"/>
                </a:solidFill>
              </a:rPr>
              <a:t>Next Steps — Web App Deployment</a:t>
            </a:r>
            <a:endParaRPr lang="en-US" sz="1800" dirty="0"/>
          </a:p>
        </p:txBody>
      </p:sp>
      <p:sp>
        <p:nvSpPr>
          <p:cNvPr id="5" name="Text 3"/>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B0C0D0"/>
                </a:solidFill>
              </a:rPr>
              <a:t>17 / 18</a:t>
            </a:r>
            <a:endParaRPr lang="en-US" sz="800" dirty="0"/>
          </a:p>
        </p:txBody>
      </p:sp>
      <p:pic>
        <p:nvPicPr>
          <p:cNvPr id="6" name="Image 0" descr="preencoded.png"/>
          <p:cNvPicPr>
            <a:picLocks noChangeAspect="1"/>
          </p:cNvPicPr>
          <p:nvPr/>
        </p:nvPicPr>
        <p:blipFill>
          <a:blip r:embed="rId3"/>
          <a:stretch>
            <a:fillRect/>
          </a:stretch>
        </p:blipFill>
        <p:spPr>
          <a:xfrm>
            <a:off x="8138160" y="201168"/>
            <a:ext cx="548640" cy="548640"/>
          </a:xfrm>
          <a:prstGeom prst="rect">
            <a:avLst/>
          </a:prstGeom>
        </p:spPr>
      </p:pic>
      <p:sp>
        <p:nvSpPr>
          <p:cNvPr id="7" name="Shape 4"/>
          <p:cNvSpPr/>
          <p:nvPr/>
        </p:nvSpPr>
        <p:spPr>
          <a:xfrm>
            <a:off x="1093060" y="1205865"/>
            <a:ext cx="2011680" cy="1051560"/>
          </a:xfrm>
          <a:prstGeom prst="rect">
            <a:avLst/>
          </a:prstGeom>
          <a:solidFill>
            <a:srgbClr val="FFFFFF"/>
          </a:solidFill>
          <a:ln w="25400">
            <a:solidFill>
              <a:srgbClr val="0EA5E9"/>
            </a:solidFill>
            <a:prstDash val="solid"/>
          </a:ln>
          <a:effectLst>
            <a:outerShdw blurRad="76200" dist="25400" dir="8100000" algn="bl" rotWithShape="0">
              <a:srgbClr val="000000">
                <a:alpha val="10000"/>
              </a:srgbClr>
            </a:outerShdw>
          </a:effectLst>
        </p:spPr>
        <p:txBody>
          <a:bodyPr/>
          <a:lstStyle/>
          <a:p>
            <a:endParaRPr lang="en-US"/>
          </a:p>
        </p:txBody>
      </p:sp>
      <p:sp>
        <p:nvSpPr>
          <p:cNvPr id="8" name="Shape 5"/>
          <p:cNvSpPr/>
          <p:nvPr/>
        </p:nvSpPr>
        <p:spPr>
          <a:xfrm>
            <a:off x="1093060" y="1205865"/>
            <a:ext cx="2011680" cy="73152"/>
          </a:xfrm>
          <a:prstGeom prst="rect">
            <a:avLst/>
          </a:prstGeom>
          <a:solidFill>
            <a:srgbClr val="0EA5E9"/>
          </a:solidFill>
          <a:ln w="12700">
            <a:solidFill>
              <a:srgbClr val="0EA5E9"/>
            </a:solidFill>
            <a:prstDash val="solid"/>
          </a:ln>
        </p:spPr>
        <p:txBody>
          <a:bodyPr/>
          <a:lstStyle/>
          <a:p>
            <a:endParaRPr lang="en-US"/>
          </a:p>
        </p:txBody>
      </p:sp>
      <p:sp>
        <p:nvSpPr>
          <p:cNvPr id="9" name="Text 6"/>
          <p:cNvSpPr/>
          <p:nvPr/>
        </p:nvSpPr>
        <p:spPr>
          <a:xfrm>
            <a:off x="1184500" y="1370457"/>
            <a:ext cx="1828800" cy="365760"/>
          </a:xfrm>
          <a:prstGeom prst="rect">
            <a:avLst/>
          </a:prstGeom>
          <a:noFill/>
          <a:ln/>
        </p:spPr>
        <p:txBody>
          <a:bodyPr wrap="square" rtlCol="0" anchor="ctr"/>
          <a:lstStyle/>
          <a:p>
            <a:pPr marL="0" indent="0">
              <a:buNone/>
            </a:pPr>
            <a:r>
              <a:rPr lang="en-US" sz="1300" b="1" dirty="0" err="1">
                <a:solidFill>
                  <a:srgbClr val="0A1628"/>
                </a:solidFill>
              </a:rPr>
              <a:t>React+Vite</a:t>
            </a:r>
            <a:endParaRPr lang="en-US" sz="1300" dirty="0"/>
          </a:p>
        </p:txBody>
      </p:sp>
      <p:sp>
        <p:nvSpPr>
          <p:cNvPr id="10" name="Text 7"/>
          <p:cNvSpPr/>
          <p:nvPr/>
        </p:nvSpPr>
        <p:spPr>
          <a:xfrm>
            <a:off x="1184500" y="1772793"/>
            <a:ext cx="1828800" cy="320040"/>
          </a:xfrm>
          <a:prstGeom prst="rect">
            <a:avLst/>
          </a:prstGeom>
          <a:noFill/>
          <a:ln/>
        </p:spPr>
        <p:txBody>
          <a:bodyPr wrap="square" rtlCol="0" anchor="ctr"/>
          <a:lstStyle/>
          <a:p>
            <a:pPr marL="0" indent="0">
              <a:buNone/>
            </a:pPr>
            <a:r>
              <a:rPr lang="en-US" sz="900" dirty="0">
                <a:solidFill>
                  <a:srgbClr val="64748B"/>
                </a:solidFill>
              </a:rPr>
              <a:t>Frontend UI</a:t>
            </a:r>
            <a:endParaRPr lang="en-US" sz="900" dirty="0"/>
          </a:p>
        </p:txBody>
      </p:sp>
      <p:sp>
        <p:nvSpPr>
          <p:cNvPr id="11" name="Shape 8"/>
          <p:cNvSpPr/>
          <p:nvPr/>
        </p:nvSpPr>
        <p:spPr>
          <a:xfrm>
            <a:off x="1093060" y="2498598"/>
            <a:ext cx="2011680" cy="1051560"/>
          </a:xfrm>
          <a:prstGeom prst="rect">
            <a:avLst/>
          </a:prstGeom>
          <a:solidFill>
            <a:srgbClr val="FFFFFF"/>
          </a:solidFill>
          <a:ln w="25400">
            <a:solidFill>
              <a:srgbClr val="009688"/>
            </a:solidFill>
            <a:prstDash val="solid"/>
          </a:ln>
          <a:effectLst>
            <a:outerShdw blurRad="76200" dist="25400" dir="8100000" algn="bl" rotWithShape="0">
              <a:srgbClr val="000000">
                <a:alpha val="10000"/>
              </a:srgbClr>
            </a:outerShdw>
          </a:effectLst>
        </p:spPr>
        <p:txBody>
          <a:bodyPr/>
          <a:lstStyle/>
          <a:p>
            <a:endParaRPr lang="en-US"/>
          </a:p>
        </p:txBody>
      </p:sp>
      <p:sp>
        <p:nvSpPr>
          <p:cNvPr id="12" name="Shape 9"/>
          <p:cNvSpPr/>
          <p:nvPr/>
        </p:nvSpPr>
        <p:spPr>
          <a:xfrm>
            <a:off x="1093060" y="2498598"/>
            <a:ext cx="2011680" cy="73152"/>
          </a:xfrm>
          <a:prstGeom prst="rect">
            <a:avLst/>
          </a:prstGeom>
          <a:solidFill>
            <a:srgbClr val="009688"/>
          </a:solidFill>
          <a:ln w="12700">
            <a:solidFill>
              <a:srgbClr val="009688"/>
            </a:solidFill>
            <a:prstDash val="solid"/>
          </a:ln>
        </p:spPr>
        <p:txBody>
          <a:bodyPr/>
          <a:lstStyle/>
          <a:p>
            <a:endParaRPr lang="en-US"/>
          </a:p>
        </p:txBody>
      </p:sp>
      <p:sp>
        <p:nvSpPr>
          <p:cNvPr id="13" name="Text 10"/>
          <p:cNvSpPr/>
          <p:nvPr/>
        </p:nvSpPr>
        <p:spPr>
          <a:xfrm>
            <a:off x="1184500" y="2663190"/>
            <a:ext cx="1828800" cy="365760"/>
          </a:xfrm>
          <a:prstGeom prst="rect">
            <a:avLst/>
          </a:prstGeom>
          <a:noFill/>
          <a:ln/>
        </p:spPr>
        <p:txBody>
          <a:bodyPr wrap="square" rtlCol="0" anchor="ctr"/>
          <a:lstStyle/>
          <a:p>
            <a:pPr marL="0" indent="0">
              <a:buNone/>
            </a:pPr>
            <a:r>
              <a:rPr lang="en-US" sz="1300" b="1" dirty="0">
                <a:solidFill>
                  <a:srgbClr val="0A1628"/>
                </a:solidFill>
              </a:rPr>
              <a:t>FastAPI</a:t>
            </a:r>
            <a:endParaRPr lang="en-US" sz="1300" dirty="0"/>
          </a:p>
        </p:txBody>
      </p:sp>
      <p:sp>
        <p:nvSpPr>
          <p:cNvPr id="14" name="Text 11"/>
          <p:cNvSpPr/>
          <p:nvPr/>
        </p:nvSpPr>
        <p:spPr>
          <a:xfrm>
            <a:off x="1184500" y="3065526"/>
            <a:ext cx="1828800" cy="320040"/>
          </a:xfrm>
          <a:prstGeom prst="rect">
            <a:avLst/>
          </a:prstGeom>
          <a:noFill/>
          <a:ln/>
        </p:spPr>
        <p:txBody>
          <a:bodyPr wrap="square" rtlCol="0" anchor="ctr"/>
          <a:lstStyle/>
          <a:p>
            <a:pPr marL="0" indent="0">
              <a:buNone/>
            </a:pPr>
            <a:r>
              <a:rPr lang="en-US" sz="900" dirty="0">
                <a:solidFill>
                  <a:srgbClr val="64748B"/>
                </a:solidFill>
              </a:rPr>
              <a:t>REST Backend</a:t>
            </a:r>
            <a:endParaRPr lang="en-US" sz="900" dirty="0"/>
          </a:p>
        </p:txBody>
      </p:sp>
      <p:sp>
        <p:nvSpPr>
          <p:cNvPr id="25" name="Text 22"/>
          <p:cNvSpPr/>
          <p:nvPr/>
        </p:nvSpPr>
        <p:spPr>
          <a:xfrm>
            <a:off x="256032" y="4434840"/>
            <a:ext cx="8631936" cy="457200"/>
          </a:xfrm>
          <a:prstGeom prst="rect">
            <a:avLst/>
          </a:prstGeom>
          <a:noFill/>
          <a:ln/>
        </p:spPr>
        <p:txBody>
          <a:bodyPr wrap="square" rtlCol="0" anchor="ctr"/>
          <a:lstStyle/>
          <a:p>
            <a:pPr marL="0" indent="0" algn="ctr">
              <a:buNone/>
            </a:pPr>
            <a:r>
              <a:rPr lang="en-US" sz="1200" b="1" i="1" dirty="0">
                <a:solidFill>
                  <a:srgbClr val="00B4A6"/>
                </a:solidFill>
              </a:rPr>
              <a:t>Upload abstract → Instant topic classification + entity extraction</a:t>
            </a:r>
            <a:endParaRPr lang="en-US" sz="1200" dirty="0"/>
          </a:p>
        </p:txBody>
      </p:sp>
      <p:pic>
        <p:nvPicPr>
          <p:cNvPr id="27" name="Image 26">
            <a:extLst>
              <a:ext uri="{FF2B5EF4-FFF2-40B4-BE49-F238E27FC236}">
                <a16:creationId xmlns:a16="http://schemas.microsoft.com/office/drawing/2014/main" id="{6AF54F29-9F5C-77E0-5D08-B25476782051}"/>
              </a:ext>
            </a:extLst>
          </p:cNvPr>
          <p:cNvPicPr>
            <a:picLocks noChangeAspect="1"/>
          </p:cNvPicPr>
          <p:nvPr/>
        </p:nvPicPr>
        <p:blipFill>
          <a:blip r:embed="rId4"/>
          <a:stretch>
            <a:fillRect/>
          </a:stretch>
        </p:blipFill>
        <p:spPr>
          <a:xfrm>
            <a:off x="3505678" y="1174383"/>
            <a:ext cx="5255097" cy="26484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486400" y="-914400"/>
            <a:ext cx="4572000" cy="4572000"/>
          </a:xfrm>
          <a:prstGeom prst="ellipse">
            <a:avLst/>
          </a:prstGeom>
          <a:solidFill>
            <a:srgbClr val="00B4A6">
              <a:alpha val="10000"/>
            </a:srgbClr>
          </a:solidFill>
          <a:ln w="12700">
            <a:solidFill>
              <a:srgbClr val="00B4A6"/>
            </a:solidFill>
            <a:prstDash val="solid"/>
          </a:ln>
        </p:spPr>
        <p:txBody>
          <a:bodyPr/>
          <a:lstStyle/>
          <a:p>
            <a:endParaRPr lang="en-US"/>
          </a:p>
        </p:txBody>
      </p:sp>
      <p:sp>
        <p:nvSpPr>
          <p:cNvPr id="3" name="Shape 1"/>
          <p:cNvSpPr/>
          <p:nvPr/>
        </p:nvSpPr>
        <p:spPr>
          <a:xfrm>
            <a:off x="0" y="0"/>
            <a:ext cx="9144000" cy="73152"/>
          </a:xfrm>
          <a:prstGeom prst="rect">
            <a:avLst/>
          </a:prstGeom>
          <a:solidFill>
            <a:srgbClr val="00B4A6"/>
          </a:solidFill>
          <a:ln w="12700">
            <a:solidFill>
              <a:srgbClr val="00B4A6"/>
            </a:solidFill>
            <a:prstDash val="solid"/>
          </a:ln>
        </p:spPr>
        <p:txBody>
          <a:bodyPr/>
          <a:lstStyle/>
          <a:p>
            <a:endParaRPr lang="en-US"/>
          </a:p>
        </p:txBody>
      </p:sp>
      <p:sp>
        <p:nvSpPr>
          <p:cNvPr id="4" name="Text 2"/>
          <p:cNvSpPr/>
          <p:nvPr/>
        </p:nvSpPr>
        <p:spPr>
          <a:xfrm>
            <a:off x="457200" y="274320"/>
            <a:ext cx="8229600" cy="640080"/>
          </a:xfrm>
          <a:prstGeom prst="rect">
            <a:avLst/>
          </a:prstGeom>
          <a:noFill/>
          <a:ln/>
        </p:spPr>
        <p:txBody>
          <a:bodyPr wrap="square" rtlCol="0" anchor="ctr"/>
          <a:lstStyle/>
          <a:p>
            <a:pPr marL="0" indent="0">
              <a:buNone/>
            </a:pPr>
            <a:r>
              <a:rPr lang="en-US" sz="2200" b="1" dirty="0">
                <a:solidFill>
                  <a:srgbClr val="00E5CC"/>
                </a:solidFill>
              </a:rPr>
              <a:t>Conclusion</a:t>
            </a:r>
            <a:endParaRPr lang="en-US" sz="2200" dirty="0"/>
          </a:p>
        </p:txBody>
      </p:sp>
      <p:sp>
        <p:nvSpPr>
          <p:cNvPr id="20" name="Shape 18"/>
          <p:cNvSpPr/>
          <p:nvPr/>
        </p:nvSpPr>
        <p:spPr>
          <a:xfrm>
            <a:off x="0" y="4663440"/>
            <a:ext cx="9144000" cy="480060"/>
          </a:xfrm>
          <a:prstGeom prst="rect">
            <a:avLst/>
          </a:prstGeom>
          <a:solidFill>
            <a:srgbClr val="060E1A"/>
          </a:solidFill>
          <a:ln w="12700">
            <a:solidFill>
              <a:srgbClr val="060E1A"/>
            </a:solidFill>
            <a:prstDash val="solid"/>
          </a:ln>
        </p:spPr>
        <p:txBody>
          <a:bodyPr/>
          <a:lstStyle/>
          <a:p>
            <a:endParaRPr lang="en-US"/>
          </a:p>
        </p:txBody>
      </p:sp>
      <p:sp>
        <p:nvSpPr>
          <p:cNvPr id="21" name="Text 19"/>
          <p:cNvSpPr/>
          <p:nvPr/>
        </p:nvSpPr>
        <p:spPr>
          <a:xfrm>
            <a:off x="457200" y="4681728"/>
            <a:ext cx="8229600" cy="365760"/>
          </a:xfrm>
          <a:prstGeom prst="rect">
            <a:avLst/>
          </a:prstGeom>
          <a:noFill/>
          <a:ln/>
        </p:spPr>
        <p:txBody>
          <a:bodyPr wrap="square" rtlCol="0" anchor="ctr"/>
          <a:lstStyle/>
          <a:p>
            <a:pPr marL="0" indent="0" algn="ctr">
              <a:buNone/>
            </a:pPr>
            <a:r>
              <a:rPr lang="en-US" sz="1200" dirty="0">
                <a:solidFill>
                  <a:srgbClr val="507080"/>
                </a:solidFill>
              </a:rPr>
              <a:t>Thank you  ·  Questions?</a:t>
            </a:r>
            <a:endParaRPr lang="en-US" sz="1200" dirty="0"/>
          </a:p>
        </p:txBody>
      </p:sp>
      <p:sp>
        <p:nvSpPr>
          <p:cNvPr id="22" name="Text 20"/>
          <p:cNvSpPr/>
          <p:nvPr/>
        </p:nvSpPr>
        <p:spPr>
          <a:xfrm>
            <a:off x="8503920" y="4754880"/>
            <a:ext cx="548640" cy="274320"/>
          </a:xfrm>
          <a:prstGeom prst="rect">
            <a:avLst/>
          </a:prstGeom>
          <a:noFill/>
          <a:ln/>
        </p:spPr>
        <p:txBody>
          <a:bodyPr wrap="square" rtlCol="0" anchor="ctr"/>
          <a:lstStyle/>
          <a:p>
            <a:pPr marL="0" indent="0" algn="r">
              <a:buNone/>
            </a:pPr>
            <a:r>
              <a:rPr lang="en-US" sz="800" dirty="0">
                <a:solidFill>
                  <a:srgbClr val="406070"/>
                </a:solidFill>
              </a:rPr>
              <a:t>18 / 18</a:t>
            </a:r>
            <a:endParaRPr lang="en-US" sz="800" dirty="0"/>
          </a:p>
        </p:txBody>
      </p:sp>
      <p:sp>
        <p:nvSpPr>
          <p:cNvPr id="30" name="ZoneTexte 29">
            <a:extLst>
              <a:ext uri="{FF2B5EF4-FFF2-40B4-BE49-F238E27FC236}">
                <a16:creationId xmlns:a16="http://schemas.microsoft.com/office/drawing/2014/main" id="{FB0C7547-C1A1-5606-5F49-9DDCA17EC975}"/>
              </a:ext>
            </a:extLst>
          </p:cNvPr>
          <p:cNvSpPr txBox="1"/>
          <p:nvPr/>
        </p:nvSpPr>
        <p:spPr>
          <a:xfrm>
            <a:off x="400929" y="948267"/>
            <a:ext cx="5036234" cy="3323987"/>
          </a:xfrm>
          <a:prstGeom prst="rect">
            <a:avLst/>
          </a:prstGeom>
          <a:noFill/>
        </p:spPr>
        <p:txBody>
          <a:bodyPr wrap="square">
            <a:spAutoFit/>
          </a:bodyPr>
          <a:lstStyle/>
          <a:p>
            <a:pPr algn="l">
              <a:spcAft>
                <a:spcPts val="1200"/>
              </a:spcAft>
              <a:buFont typeface="Arial" panose="020B0604020202020204" pitchFamily="34" charset="0"/>
              <a:buChar char="•"/>
            </a:pPr>
            <a:r>
              <a:rPr lang="fr-FR" b="1" i="0" dirty="0">
                <a:solidFill>
                  <a:srgbClr val="00E5CC"/>
                </a:solidFill>
                <a:effectLst/>
                <a:latin typeface="Mona Sans VF"/>
              </a:rPr>
              <a:t>Complete NLP Pipeline:</a:t>
            </a:r>
            <a:r>
              <a:rPr lang="fr-FR" b="0" i="0" dirty="0">
                <a:solidFill>
                  <a:srgbClr val="00E5CC"/>
                </a:solidFill>
                <a:effectLst/>
                <a:latin typeface="Mona Sans VF"/>
              </a:rPr>
              <a:t> </a:t>
            </a:r>
            <a:r>
              <a:rPr lang="fr-FR" b="0" i="0" dirty="0" err="1">
                <a:solidFill>
                  <a:schemeClr val="bg1"/>
                </a:solidFill>
                <a:effectLst/>
                <a:latin typeface="Mona Sans VF"/>
              </a:rPr>
              <a:t>Transformed</a:t>
            </a:r>
            <a:r>
              <a:rPr lang="fr-FR" b="0" i="0" dirty="0">
                <a:solidFill>
                  <a:schemeClr val="bg1"/>
                </a:solidFill>
                <a:effectLst/>
                <a:latin typeface="Mona Sans VF"/>
              </a:rPr>
              <a:t> </a:t>
            </a:r>
            <a:r>
              <a:rPr lang="fr-FR" b="0" i="0" dirty="0" err="1">
                <a:solidFill>
                  <a:schemeClr val="bg1"/>
                </a:solidFill>
                <a:effectLst/>
                <a:latin typeface="Mona Sans VF"/>
              </a:rPr>
              <a:t>raw</a:t>
            </a:r>
            <a:r>
              <a:rPr lang="fr-FR" b="0" i="0" dirty="0">
                <a:solidFill>
                  <a:schemeClr val="bg1"/>
                </a:solidFill>
                <a:effectLst/>
                <a:latin typeface="Mona Sans VF"/>
              </a:rPr>
              <a:t> </a:t>
            </a:r>
            <a:r>
              <a:rPr lang="fr-FR" b="0" i="0" dirty="0" err="1">
                <a:solidFill>
                  <a:schemeClr val="bg1"/>
                </a:solidFill>
                <a:effectLst/>
                <a:latin typeface="Mona Sans VF"/>
              </a:rPr>
              <a:t>medical</a:t>
            </a:r>
            <a:r>
              <a:rPr lang="fr-FR" b="0" i="0" dirty="0">
                <a:solidFill>
                  <a:schemeClr val="bg1"/>
                </a:solidFill>
                <a:effectLst/>
                <a:latin typeface="Mona Sans VF"/>
              </a:rPr>
              <a:t> abstracts </a:t>
            </a:r>
            <a:r>
              <a:rPr lang="fr-FR" b="0" i="0" dirty="0" err="1">
                <a:solidFill>
                  <a:schemeClr val="bg1"/>
                </a:solidFill>
                <a:effectLst/>
                <a:latin typeface="Mona Sans VF"/>
              </a:rPr>
              <a:t>into</a:t>
            </a:r>
            <a:r>
              <a:rPr lang="fr-FR" b="0" i="0" dirty="0">
                <a:solidFill>
                  <a:schemeClr val="bg1"/>
                </a:solidFill>
                <a:effectLst/>
                <a:latin typeface="Mona Sans VF"/>
              </a:rPr>
              <a:t> </a:t>
            </a:r>
            <a:r>
              <a:rPr lang="fr-FR" b="0" i="0" dirty="0" err="1">
                <a:solidFill>
                  <a:schemeClr val="bg1"/>
                </a:solidFill>
                <a:effectLst/>
                <a:latin typeface="Mona Sans VF"/>
              </a:rPr>
              <a:t>structured</a:t>
            </a:r>
            <a:r>
              <a:rPr lang="fr-FR" b="0" i="0" dirty="0">
                <a:solidFill>
                  <a:schemeClr val="bg1"/>
                </a:solidFill>
                <a:effectLst/>
                <a:latin typeface="Mona Sans VF"/>
              </a:rPr>
              <a:t>, </a:t>
            </a:r>
            <a:r>
              <a:rPr lang="fr-FR" b="0" i="0" dirty="0" err="1">
                <a:solidFill>
                  <a:schemeClr val="bg1"/>
                </a:solidFill>
                <a:effectLst/>
                <a:latin typeface="Mona Sans VF"/>
              </a:rPr>
              <a:t>actionable</a:t>
            </a:r>
            <a:r>
              <a:rPr lang="fr-FR" b="0" i="0" dirty="0">
                <a:solidFill>
                  <a:schemeClr val="bg1"/>
                </a:solidFill>
                <a:effectLst/>
                <a:latin typeface="Mona Sans VF"/>
              </a:rPr>
              <a:t> data.</a:t>
            </a:r>
          </a:p>
          <a:p>
            <a:pPr algn="l">
              <a:spcAft>
                <a:spcPts val="1200"/>
              </a:spcAft>
              <a:buFont typeface="Arial" panose="020B0604020202020204" pitchFamily="34" charset="0"/>
              <a:buChar char="•"/>
            </a:pPr>
            <a:r>
              <a:rPr lang="fr-FR" b="1" i="0" dirty="0" err="1">
                <a:solidFill>
                  <a:srgbClr val="00E5CC"/>
                </a:solidFill>
                <a:effectLst/>
                <a:latin typeface="Mona Sans VF"/>
              </a:rPr>
              <a:t>Semantic</a:t>
            </a:r>
            <a:r>
              <a:rPr lang="fr-FR" b="1" i="0" dirty="0">
                <a:solidFill>
                  <a:srgbClr val="00E5CC"/>
                </a:solidFill>
                <a:effectLst/>
                <a:latin typeface="Mona Sans VF"/>
              </a:rPr>
              <a:t> </a:t>
            </a:r>
            <a:r>
              <a:rPr lang="fr-FR" b="1" i="0" dirty="0" err="1">
                <a:solidFill>
                  <a:srgbClr val="00E5CC"/>
                </a:solidFill>
                <a:effectLst/>
                <a:latin typeface="Mona Sans VF"/>
              </a:rPr>
              <a:t>Understanding</a:t>
            </a:r>
            <a:r>
              <a:rPr lang="fr-FR" b="1" i="0" dirty="0">
                <a:solidFill>
                  <a:srgbClr val="00E5CC"/>
                </a:solidFill>
                <a:effectLst/>
                <a:latin typeface="Mona Sans VF"/>
              </a:rPr>
              <a:t>:</a:t>
            </a:r>
            <a:r>
              <a:rPr lang="fr-FR" b="0" i="0" dirty="0">
                <a:solidFill>
                  <a:srgbClr val="00E5CC"/>
                </a:solidFill>
                <a:effectLst/>
                <a:latin typeface="Mona Sans VF"/>
              </a:rPr>
              <a:t> </a:t>
            </a:r>
            <a:r>
              <a:rPr lang="fr-FR" b="0" i="0" dirty="0" err="1">
                <a:solidFill>
                  <a:schemeClr val="bg1"/>
                </a:solidFill>
                <a:effectLst/>
                <a:latin typeface="Mona Sans VF"/>
              </a:rPr>
              <a:t>Successfully</a:t>
            </a:r>
            <a:r>
              <a:rPr lang="fr-FR" b="0" i="0" dirty="0">
                <a:solidFill>
                  <a:schemeClr val="bg1"/>
                </a:solidFill>
                <a:effectLst/>
                <a:latin typeface="Mona Sans VF"/>
              </a:rPr>
              <a:t> </a:t>
            </a:r>
            <a:r>
              <a:rPr lang="fr-FR" b="0" i="0" dirty="0" err="1">
                <a:solidFill>
                  <a:schemeClr val="bg1"/>
                </a:solidFill>
                <a:effectLst/>
                <a:latin typeface="Mona Sans VF"/>
              </a:rPr>
              <a:t>extracted</a:t>
            </a:r>
            <a:r>
              <a:rPr lang="fr-FR" b="0" i="0" dirty="0">
                <a:solidFill>
                  <a:schemeClr val="bg1"/>
                </a:solidFill>
                <a:effectLst/>
                <a:latin typeface="Mona Sans VF"/>
              </a:rPr>
              <a:t> </a:t>
            </a:r>
            <a:r>
              <a:rPr lang="fr-FR" b="0" i="0" dirty="0" err="1">
                <a:solidFill>
                  <a:schemeClr val="bg1"/>
                </a:solidFill>
                <a:effectLst/>
                <a:latin typeface="Mona Sans VF"/>
              </a:rPr>
              <a:t>hidden</a:t>
            </a:r>
            <a:r>
              <a:rPr lang="fr-FR" b="0" i="0" dirty="0">
                <a:solidFill>
                  <a:schemeClr val="bg1"/>
                </a:solidFill>
                <a:effectLst/>
                <a:latin typeface="Mona Sans VF"/>
              </a:rPr>
              <a:t> </a:t>
            </a:r>
            <a:r>
              <a:rPr lang="fr-FR" b="0" i="0" dirty="0" err="1">
                <a:solidFill>
                  <a:schemeClr val="bg1"/>
                </a:solidFill>
                <a:effectLst/>
                <a:latin typeface="Mona Sans VF"/>
              </a:rPr>
              <a:t>themes</a:t>
            </a:r>
            <a:r>
              <a:rPr lang="fr-FR" b="0" i="0" dirty="0">
                <a:solidFill>
                  <a:schemeClr val="bg1"/>
                </a:solidFill>
                <a:effectLst/>
                <a:latin typeface="Mona Sans VF"/>
              </a:rPr>
              <a:t> and </a:t>
            </a:r>
            <a:r>
              <a:rPr lang="fr-FR" b="0" i="0" dirty="0" err="1">
                <a:solidFill>
                  <a:schemeClr val="bg1"/>
                </a:solidFill>
                <a:effectLst/>
                <a:latin typeface="Mona Sans VF"/>
              </a:rPr>
              <a:t>entities</a:t>
            </a:r>
            <a:r>
              <a:rPr lang="fr-FR" b="0" i="0" dirty="0">
                <a:solidFill>
                  <a:schemeClr val="bg1"/>
                </a:solidFill>
                <a:effectLst/>
                <a:latin typeface="Mona Sans VF"/>
              </a:rPr>
              <a:t> (Word2Vec, LDA, </a:t>
            </a:r>
            <a:r>
              <a:rPr lang="fr-FR" b="0" i="0" dirty="0" err="1">
                <a:solidFill>
                  <a:schemeClr val="bg1"/>
                </a:solidFill>
                <a:effectLst/>
                <a:latin typeface="Mona Sans VF"/>
              </a:rPr>
              <a:t>spaCy</a:t>
            </a:r>
            <a:r>
              <a:rPr lang="fr-FR" b="0" i="0" dirty="0">
                <a:solidFill>
                  <a:schemeClr val="bg1"/>
                </a:solidFill>
                <a:effectLst/>
                <a:latin typeface="Mona Sans VF"/>
              </a:rPr>
              <a:t>).</a:t>
            </a:r>
          </a:p>
          <a:p>
            <a:pPr algn="l">
              <a:spcAft>
                <a:spcPts val="1200"/>
              </a:spcAft>
              <a:buFont typeface="Arial" panose="020B0604020202020204" pitchFamily="34" charset="0"/>
              <a:buChar char="•"/>
            </a:pPr>
            <a:r>
              <a:rPr lang="fr-FR" b="1" i="0" dirty="0">
                <a:solidFill>
                  <a:srgbClr val="00E5CC"/>
                </a:solidFill>
                <a:effectLst/>
                <a:latin typeface="Mona Sans VF"/>
              </a:rPr>
              <a:t>Data-Driven Success:</a:t>
            </a:r>
            <a:r>
              <a:rPr lang="fr-FR" b="0" i="0" dirty="0">
                <a:solidFill>
                  <a:srgbClr val="00E5CC"/>
                </a:solidFill>
                <a:effectLst/>
                <a:latin typeface="Mona Sans VF"/>
              </a:rPr>
              <a:t> </a:t>
            </a:r>
            <a:r>
              <a:rPr lang="fr-FR" b="0" i="0" dirty="0">
                <a:solidFill>
                  <a:schemeClr val="bg1"/>
                </a:solidFill>
                <a:effectLst/>
                <a:latin typeface="Mona Sans VF"/>
              </a:rPr>
              <a:t>Random Forest (98.8% </a:t>
            </a:r>
            <a:r>
              <a:rPr lang="fr-FR" b="0" i="0" dirty="0" err="1">
                <a:solidFill>
                  <a:schemeClr val="bg1"/>
                </a:solidFill>
                <a:effectLst/>
                <a:latin typeface="Mona Sans VF"/>
              </a:rPr>
              <a:t>accuracy</a:t>
            </a:r>
            <a:r>
              <a:rPr lang="fr-FR" b="0" i="0" dirty="0">
                <a:solidFill>
                  <a:schemeClr val="bg1"/>
                </a:solidFill>
                <a:effectLst/>
                <a:latin typeface="Mona Sans VF"/>
              </a:rPr>
              <a:t>) </a:t>
            </a:r>
            <a:r>
              <a:rPr lang="fr-FR" b="0" i="0" dirty="0" err="1">
                <a:solidFill>
                  <a:schemeClr val="bg1"/>
                </a:solidFill>
                <a:effectLst/>
                <a:latin typeface="Mona Sans VF"/>
              </a:rPr>
              <a:t>outperformed</a:t>
            </a:r>
            <a:r>
              <a:rPr lang="fr-FR" b="0" i="0" dirty="0">
                <a:solidFill>
                  <a:schemeClr val="bg1"/>
                </a:solidFill>
                <a:effectLst/>
                <a:latin typeface="Mona Sans VF"/>
              </a:rPr>
              <a:t> Deep Learning for </a:t>
            </a:r>
            <a:r>
              <a:rPr lang="fr-FR" b="0" i="0" dirty="0" err="1">
                <a:solidFill>
                  <a:schemeClr val="bg1"/>
                </a:solidFill>
                <a:effectLst/>
                <a:latin typeface="Mona Sans VF"/>
              </a:rPr>
              <a:t>this</a:t>
            </a:r>
            <a:r>
              <a:rPr lang="fr-FR" b="0" i="0" dirty="0">
                <a:solidFill>
                  <a:schemeClr val="bg1"/>
                </a:solidFill>
                <a:effectLst/>
                <a:latin typeface="Mona Sans VF"/>
              </a:rPr>
              <a:t> </a:t>
            </a:r>
            <a:r>
              <a:rPr lang="fr-FR" b="0" i="0" dirty="0" err="1">
                <a:solidFill>
                  <a:schemeClr val="bg1"/>
                </a:solidFill>
                <a:effectLst/>
                <a:latin typeface="Mona Sans VF"/>
              </a:rPr>
              <a:t>dataset</a:t>
            </a:r>
            <a:r>
              <a:rPr lang="fr-FR" b="0" i="0" dirty="0">
                <a:solidFill>
                  <a:schemeClr val="bg1"/>
                </a:solidFill>
                <a:effectLst/>
                <a:latin typeface="Mona Sans VF"/>
              </a:rPr>
              <a:t>.</a:t>
            </a:r>
          </a:p>
          <a:p>
            <a:pPr algn="l">
              <a:spcAft>
                <a:spcPts val="1200"/>
              </a:spcAft>
              <a:buFont typeface="Arial" panose="020B0604020202020204" pitchFamily="34" charset="0"/>
              <a:buChar char="•"/>
            </a:pPr>
            <a:r>
              <a:rPr lang="fr-FR" b="1" i="0" dirty="0">
                <a:solidFill>
                  <a:srgbClr val="00E5CC"/>
                </a:solidFill>
                <a:effectLst/>
                <a:latin typeface="Mona Sans VF"/>
              </a:rPr>
              <a:t>Real-World Impact:</a:t>
            </a:r>
            <a:r>
              <a:rPr lang="fr-FR" b="0" i="0" dirty="0">
                <a:solidFill>
                  <a:srgbClr val="00E5CC"/>
                </a:solidFill>
                <a:effectLst/>
                <a:latin typeface="Mona Sans VF"/>
              </a:rPr>
              <a:t> </a:t>
            </a:r>
            <a:r>
              <a:rPr lang="fr-FR" b="0" i="0" dirty="0">
                <a:solidFill>
                  <a:schemeClr val="bg1"/>
                </a:solidFill>
                <a:effectLst/>
                <a:latin typeface="Mona Sans VF"/>
              </a:rPr>
              <a:t>Automates </a:t>
            </a:r>
            <a:r>
              <a:rPr lang="fr-FR" b="0" i="0" dirty="0" err="1">
                <a:solidFill>
                  <a:schemeClr val="bg1"/>
                </a:solidFill>
                <a:effectLst/>
                <a:latin typeface="Mona Sans VF"/>
              </a:rPr>
              <a:t>literature</a:t>
            </a:r>
            <a:r>
              <a:rPr lang="fr-FR" b="0" i="0" dirty="0">
                <a:solidFill>
                  <a:schemeClr val="bg1"/>
                </a:solidFill>
                <a:effectLst/>
                <a:latin typeface="Mona Sans VF"/>
              </a:rPr>
              <a:t> </a:t>
            </a:r>
            <a:r>
              <a:rPr lang="fr-FR" b="0" i="0" dirty="0" err="1">
                <a:solidFill>
                  <a:schemeClr val="bg1"/>
                </a:solidFill>
                <a:effectLst/>
                <a:latin typeface="Mona Sans VF"/>
              </a:rPr>
              <a:t>review</a:t>
            </a:r>
            <a:r>
              <a:rPr lang="fr-FR" b="0" i="0" dirty="0">
                <a:solidFill>
                  <a:schemeClr val="bg1"/>
                </a:solidFill>
                <a:effectLst/>
                <a:latin typeface="Mona Sans VF"/>
              </a:rPr>
              <a:t>, </a:t>
            </a:r>
            <a:r>
              <a:rPr lang="fr-FR" b="0" i="0" dirty="0" err="1">
                <a:solidFill>
                  <a:schemeClr val="bg1"/>
                </a:solidFill>
                <a:effectLst/>
                <a:latin typeface="Mona Sans VF"/>
              </a:rPr>
              <a:t>saving</a:t>
            </a:r>
            <a:r>
              <a:rPr lang="fr-FR" b="0" i="0" dirty="0">
                <a:solidFill>
                  <a:schemeClr val="bg1"/>
                </a:solidFill>
                <a:effectLst/>
                <a:latin typeface="Mona Sans VF"/>
              </a:rPr>
              <a:t> </a:t>
            </a:r>
            <a:r>
              <a:rPr lang="fr-FR" b="0" i="0" dirty="0" err="1">
                <a:solidFill>
                  <a:schemeClr val="bg1"/>
                </a:solidFill>
                <a:effectLst/>
                <a:latin typeface="Mona Sans VF"/>
              </a:rPr>
              <a:t>medical</a:t>
            </a:r>
            <a:r>
              <a:rPr lang="fr-FR" b="0" i="0" dirty="0">
                <a:solidFill>
                  <a:schemeClr val="bg1"/>
                </a:solidFill>
                <a:effectLst/>
                <a:latin typeface="Mona Sans VF"/>
              </a:rPr>
              <a:t> </a:t>
            </a:r>
            <a:r>
              <a:rPr lang="fr-FR" b="0" i="0" dirty="0" err="1">
                <a:solidFill>
                  <a:schemeClr val="bg1"/>
                </a:solidFill>
                <a:effectLst/>
                <a:latin typeface="Mona Sans VF"/>
              </a:rPr>
              <a:t>researchers</a:t>
            </a:r>
            <a:r>
              <a:rPr lang="fr-FR" b="0" i="0" dirty="0">
                <a:solidFill>
                  <a:schemeClr val="bg1"/>
                </a:solidFill>
                <a:effectLst/>
                <a:latin typeface="Mona Sans VF"/>
              </a:rPr>
              <a:t> </a:t>
            </a:r>
            <a:r>
              <a:rPr lang="fr-FR" b="0" i="0" dirty="0" err="1">
                <a:solidFill>
                  <a:schemeClr val="bg1"/>
                </a:solidFill>
                <a:effectLst/>
                <a:latin typeface="Mona Sans VF"/>
              </a:rPr>
              <a:t>hundreds</a:t>
            </a:r>
            <a:r>
              <a:rPr lang="fr-FR" b="0" i="0" dirty="0">
                <a:solidFill>
                  <a:schemeClr val="bg1"/>
                </a:solidFill>
                <a:effectLst/>
                <a:latin typeface="Mona Sans VF"/>
              </a:rPr>
              <a:t> of </a:t>
            </a:r>
            <a:r>
              <a:rPr lang="fr-FR" b="0" i="0" dirty="0" err="1">
                <a:solidFill>
                  <a:schemeClr val="bg1"/>
                </a:solidFill>
                <a:effectLst/>
                <a:latin typeface="Mona Sans VF"/>
              </a:rPr>
              <a:t>hours</a:t>
            </a:r>
            <a:r>
              <a:rPr lang="fr-FR" b="0" i="0" dirty="0">
                <a:solidFill>
                  <a:srgbClr val="00E5CC"/>
                </a:solidFill>
                <a:effectLst/>
                <a:latin typeface="Mona Sans VF"/>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493</TotalTime>
  <Words>2080</Words>
  <Application>Microsoft Office PowerPoint</Application>
  <PresentationFormat>Affichage à l'écran (16:9)</PresentationFormat>
  <Paragraphs>227</Paragraphs>
  <Slides>19</Slides>
  <Notes>19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Consolas</vt:lpstr>
      <vt:lpstr>Mona Sans VF</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COVID-19 Research Paper Analyzer</dc:title>
  <dc:subject>PptxGenJS Presentation</dc:subject>
  <dc:creator>PptxGenJS</dc:creator>
  <cp:lastModifiedBy>E24 mohamedelamine hajmohamed</cp:lastModifiedBy>
  <cp:revision>2</cp:revision>
  <dcterms:created xsi:type="dcterms:W3CDTF">2026-05-07T02:08:08Z</dcterms:created>
  <dcterms:modified xsi:type="dcterms:W3CDTF">2026-05-07T10:38:20Z</dcterms:modified>
</cp:coreProperties>
</file>